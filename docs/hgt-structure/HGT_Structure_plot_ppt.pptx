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74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C80CE3-5838-F57C-AB94-CB318A3B08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C047E0-0C51-E5AF-8721-4D7939EAC5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04B885-4D04-0D4F-B030-E2736EDDFB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0BE745-4C4E-43CC-9D5A-02DAC286D325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A6B442-FF38-ED61-BC32-A415565807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E7788D-E778-23E5-F3DF-90D53DF2D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5D644-0B99-42EF-A5B0-FC1545F438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53629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78A347-5CE5-0205-590B-6433449FF9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4A352B-4015-6761-341E-916533507B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F58BEF-E496-B1C0-D3C0-F6A0FFF4B8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0BE745-4C4E-43CC-9D5A-02DAC286D325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2FBBBF-66F1-6107-3D19-4136EC85B6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6C5A00-1505-D236-F6EC-858703415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5D644-0B99-42EF-A5B0-FC1545F438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38405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BBF58-0C17-3FB1-BB78-3DD0C6EC23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66D95D-2EF8-BFB8-A7B0-052FA9236A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F4139D-E962-B08B-013A-BF28501E6B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0BE745-4C4E-43CC-9D5A-02DAC286D325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1D1231-D767-52D7-90B5-FB1F0A57B1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03986D-0AB0-1E96-6000-FBF915E48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5D644-0B99-42EF-A5B0-FC1545F438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07444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5E1C58-1954-1046-9ADD-9F33C935A0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905B27-5CB3-BE8B-154C-9DDBCE88B5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761ED8-067A-FEB9-5603-D1E3EA2006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086D96-5F5B-E5BE-459C-F976792D61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0BE745-4C4E-43CC-9D5A-02DAC286D325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AA90F4-A987-77FB-4DC7-9783C8F6F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AC221E-E387-2C87-F3C2-DA1A22025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5D644-0B99-42EF-A5B0-FC1545F438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74275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41D989-AC19-2352-07B4-074A96F2C6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46F427-8D6A-7CD8-A010-F38BE256A0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A60AF8-EB33-18F2-BA25-27FAAE6CA8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D1EA75C-F45C-C584-6CDE-CBB3A6D010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056B7FF-30C7-850B-FD1F-D51805408C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62FA6F2-9857-654F-F25F-5ADC07320E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0BE745-4C4E-43CC-9D5A-02DAC286D325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E62FF40-CC62-9306-67FB-17675E0D0D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985D75C-4ABD-24F3-25CF-4C5B2FA731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5D644-0B99-42EF-A5B0-FC1545F438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8911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D3704C-CBDE-5AD2-B170-0A9FE14CCE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61F270-2DF1-B55C-9F05-3B2E08EB7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0BE745-4C4E-43CC-9D5A-02DAC286D325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82F3C2-5EDB-3036-3F10-F776902150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EAB600-06B5-AEAC-7572-02E83EA9C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5D644-0B99-42EF-A5B0-FC1545F438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91862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63A5BA-6784-DBFE-B492-C0EF2042E9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0BE745-4C4E-43CC-9D5A-02DAC286D325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836B2D9-4390-E05A-8A2C-DC6B2B1FF6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727F71-FCD3-07E1-2739-2E9AF1387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5D644-0B99-42EF-A5B0-FC1545F438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52012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998A3-FAAE-4CA6-92CB-7F4A6FE373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7BA304-E187-FC20-35AA-6C0EB6A0AE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39D55A-D92E-43ED-90C0-E7E16859AC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2CA35D-C1CC-9C73-288B-C0610613D7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0BE745-4C4E-43CC-9D5A-02DAC286D325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BBE657-1E38-0904-7F81-A08F23F91B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B8F171-DEB1-7D41-7AAD-EDB1A9562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5D644-0B99-42EF-A5B0-FC1545F438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25871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DA6998-4BCC-1AC5-1971-3103BD9E27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99E885F-EB4B-2589-AE1F-D42B36A636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99B96D-8CDD-3E6F-8D5D-F5B366C9F9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14A3E3-3E4A-2644-4BEF-7B89610543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0BE745-4C4E-43CC-9D5A-02DAC286D325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6EAFB2-AE96-B99F-1B5A-A7B574E3BA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DD718E-9253-2FE3-DB98-1080F836DF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5D644-0B99-42EF-A5B0-FC1545F438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88009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1FEC89-ED49-59FB-90C9-095B5CB1CE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02B3AE-8DAC-752E-F60B-9923436CFD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2697AB-5168-8A7D-8A9B-8DA804271D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0BE745-4C4E-43CC-9D5A-02DAC286D325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775667-EBB6-BA1C-3C1C-51C779899C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6115B6-7347-5813-B8C7-F4CEDFEC80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5D644-0B99-42EF-A5B0-FC1545F438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63094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84ECF84-74BA-2B09-C40A-0EF6DADE29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7951F1-8EAF-A18A-A613-7CD9DD2F98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0DB832-4EC7-0E6E-2923-3EDD0037C6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0BE745-4C4E-43CC-9D5A-02DAC286D325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E5702A-E7FF-4AB5-335F-111B7AD733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4B980E-AB8C-2E92-ECAB-CF725812E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5D644-0B99-42EF-A5B0-FC1545F438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78815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922F88D-A2D3-727F-E7E9-DF4ADE5F6A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7AC8DE-BC58-28A0-018D-E34F52D4FD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8B7AD7-CFBA-7A4D-779F-47ED811FD8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0BE745-4C4E-43CC-9D5A-02DAC286D325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A556C4-9554-5FFA-79DC-DBED9D496D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13D4A5-681D-19CE-ACBD-E3C19E6228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65D644-0B99-42EF-A5B0-FC1545F438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77055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677760-D832-1396-65E1-F3F0079C9F1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14552A-C98D-59B5-C2EB-D8509337BDB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81A95DD-6287-0939-AA48-B345E7091D6E}"/>
              </a:ext>
            </a:extLst>
          </p:cNvPr>
          <p:cNvSpPr/>
          <p:nvPr/>
        </p:nvSpPr>
        <p:spPr>
          <a:xfrm>
            <a:off x="320842" y="0"/>
            <a:ext cx="11550316" cy="6858000"/>
          </a:xfrm>
          <a:prstGeom prst="rect">
            <a:avLst/>
          </a:prstGeom>
          <a:solidFill>
            <a:srgbClr val="F8FAFC"/>
          </a:solidFill>
          <a:ln w="7215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D93AF39-4B49-0DEE-3F94-70A21C7F925C}"/>
              </a:ext>
            </a:extLst>
          </p:cNvPr>
          <p:cNvSpPr txBox="1"/>
          <p:nvPr/>
        </p:nvSpPr>
        <p:spPr>
          <a:xfrm>
            <a:off x="2493951" y="55570"/>
            <a:ext cx="7204096" cy="3495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400" b="1" spc="0" baseline="0">
                <a:ln/>
                <a:solidFill>
                  <a:srgbClr val="0F172A"/>
                </a:solidFill>
                <a:latin typeface="Arial"/>
                <a:cs typeface="Arial"/>
                <a:sym typeface="Arial"/>
                <a:rtl val="0"/>
              </a:rPr>
              <a:t>HGT-based Actor-Critic Scheduler for JSSP Intersection Control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1910A76E-BD5C-DF31-CEF9-B87F4B6634DA}"/>
              </a:ext>
            </a:extLst>
          </p:cNvPr>
          <p:cNvSpPr/>
          <p:nvPr/>
        </p:nvSpPr>
        <p:spPr>
          <a:xfrm>
            <a:off x="2089484" y="397042"/>
            <a:ext cx="8013031" cy="7218"/>
          </a:xfrm>
          <a:custGeom>
            <a:avLst/>
            <a:gdLst>
              <a:gd name="csX0" fmla="*/ 0 w 8013031"/>
              <a:gd name="csY0" fmla="*/ 0 h 7218"/>
              <a:gd name="csX1" fmla="*/ 8013032 w 8013031"/>
              <a:gd name="csY1" fmla="*/ 0 h 7218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8013031" h="7218">
                <a:moveTo>
                  <a:pt x="0" y="0"/>
                </a:moveTo>
                <a:lnTo>
                  <a:pt x="8013032" y="0"/>
                </a:lnTo>
              </a:path>
            </a:pathLst>
          </a:custGeom>
          <a:ln w="7215" cap="flat">
            <a:solidFill>
              <a:srgbClr val="CBD5E1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F2789152-85C6-1FD7-82B4-6EDF2F08680D}"/>
              </a:ext>
            </a:extLst>
          </p:cNvPr>
          <p:cNvSpPr/>
          <p:nvPr/>
        </p:nvSpPr>
        <p:spPr>
          <a:xfrm>
            <a:off x="559067" y="462012"/>
            <a:ext cx="202130" cy="202130"/>
          </a:xfrm>
          <a:prstGeom prst="ellipse">
            <a:avLst/>
          </a:prstGeom>
          <a:solidFill>
            <a:srgbClr val="FFFFFF"/>
          </a:solidFill>
          <a:ln w="12987" cap="flat">
            <a:solidFill>
              <a:srgbClr val="2563EB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4819E8D-764F-1D6B-435C-1070471020B6}"/>
              </a:ext>
            </a:extLst>
          </p:cNvPr>
          <p:cNvSpPr txBox="1"/>
          <p:nvPr/>
        </p:nvSpPr>
        <p:spPr>
          <a:xfrm>
            <a:off x="536573" y="456109"/>
            <a:ext cx="247117" cy="2204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200" b="1" spc="0" baseline="0">
                <a:ln/>
                <a:solidFill>
                  <a:srgbClr val="2563EB"/>
                </a:solidFill>
                <a:latin typeface="Arial"/>
                <a:cs typeface="Arial"/>
                <a:sym typeface="Arial"/>
                <a:rtl val="0"/>
              </a:rPr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60A977D-F0A9-80D0-8EA5-F52011EBDB4B}"/>
              </a:ext>
            </a:extLst>
          </p:cNvPr>
          <p:cNvSpPr txBox="1"/>
          <p:nvPr/>
        </p:nvSpPr>
        <p:spPr>
          <a:xfrm>
            <a:off x="741947" y="443039"/>
            <a:ext cx="926678" cy="2366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350" b="1" spc="0" baseline="0">
                <a:ln/>
                <a:solidFill>
                  <a:srgbClr val="0F172A"/>
                </a:solidFill>
                <a:latin typeface="Arial"/>
                <a:cs typeface="Arial"/>
                <a:sym typeface="Arial"/>
                <a:rtl val="0"/>
              </a:rPr>
              <a:t>Traffic State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3F5E515B-33E5-E25D-93D3-FB4D05E50F80}"/>
              </a:ext>
            </a:extLst>
          </p:cNvPr>
          <p:cNvSpPr/>
          <p:nvPr/>
        </p:nvSpPr>
        <p:spPr>
          <a:xfrm>
            <a:off x="2291614" y="462012"/>
            <a:ext cx="202130" cy="202130"/>
          </a:xfrm>
          <a:prstGeom prst="ellipse">
            <a:avLst/>
          </a:prstGeom>
          <a:solidFill>
            <a:srgbClr val="FFFFFF"/>
          </a:solidFill>
          <a:ln w="12987" cap="flat">
            <a:solidFill>
              <a:srgbClr val="2563EB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6E00DDD-2172-255B-A460-0B3CD29C4122}"/>
              </a:ext>
            </a:extLst>
          </p:cNvPr>
          <p:cNvSpPr txBox="1"/>
          <p:nvPr/>
        </p:nvSpPr>
        <p:spPr>
          <a:xfrm>
            <a:off x="2269121" y="456109"/>
            <a:ext cx="247117" cy="2204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200" b="1" spc="0" baseline="0">
                <a:ln/>
                <a:solidFill>
                  <a:srgbClr val="2563EB"/>
                </a:solidFill>
                <a:latin typeface="Arial"/>
                <a:cs typeface="Arial"/>
                <a:sym typeface="Arial"/>
                <a:rtl val="0"/>
              </a:rPr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1D88095-A197-D712-6D64-91CC907B16F9}"/>
              </a:ext>
            </a:extLst>
          </p:cNvPr>
          <p:cNvSpPr txBox="1"/>
          <p:nvPr/>
        </p:nvSpPr>
        <p:spPr>
          <a:xfrm>
            <a:off x="2474494" y="443039"/>
            <a:ext cx="1901109" cy="2366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350" b="1" spc="0" baseline="0">
                <a:ln/>
                <a:solidFill>
                  <a:srgbClr val="0F172A"/>
                </a:solidFill>
                <a:latin typeface="Arial"/>
                <a:cs typeface="Arial"/>
                <a:sym typeface="Arial"/>
                <a:rtl val="0"/>
              </a:rPr>
              <a:t>Heterogeneous Graph Input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EC5248E6-D6E8-B9A9-2B16-9F6B69FBC7B5}"/>
              </a:ext>
            </a:extLst>
          </p:cNvPr>
          <p:cNvSpPr/>
          <p:nvPr/>
        </p:nvSpPr>
        <p:spPr>
          <a:xfrm>
            <a:off x="4601677" y="462012"/>
            <a:ext cx="202130" cy="202130"/>
          </a:xfrm>
          <a:prstGeom prst="ellipse">
            <a:avLst/>
          </a:prstGeom>
          <a:solidFill>
            <a:srgbClr val="FFFFFF"/>
          </a:solidFill>
          <a:ln w="12987" cap="flat">
            <a:solidFill>
              <a:srgbClr val="2563EB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15C9F31-118B-FB62-0663-4D0D3B99D698}"/>
              </a:ext>
            </a:extLst>
          </p:cNvPr>
          <p:cNvSpPr txBox="1"/>
          <p:nvPr/>
        </p:nvSpPr>
        <p:spPr>
          <a:xfrm>
            <a:off x="4579184" y="456109"/>
            <a:ext cx="247117" cy="2204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200" b="1" spc="0" baseline="0">
                <a:ln/>
                <a:solidFill>
                  <a:srgbClr val="2563EB"/>
                </a:solidFill>
                <a:latin typeface="Arial"/>
                <a:cs typeface="Arial"/>
                <a:sym typeface="Arial"/>
                <a:rtl val="0"/>
              </a:rPr>
              <a:t>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4083B7A-4C0B-01E3-2527-6808B06D7F7F}"/>
              </a:ext>
            </a:extLst>
          </p:cNvPr>
          <p:cNvSpPr txBox="1"/>
          <p:nvPr/>
        </p:nvSpPr>
        <p:spPr>
          <a:xfrm>
            <a:off x="4784557" y="456109"/>
            <a:ext cx="1509361" cy="2204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200" b="1" spc="0" baseline="0">
                <a:ln/>
                <a:solidFill>
                  <a:srgbClr val="0F172A"/>
                </a:solidFill>
                <a:latin typeface="Arial"/>
                <a:cs typeface="Arial"/>
                <a:sym typeface="Arial"/>
                <a:rtl val="0"/>
              </a:rPr>
              <a:t>Type-specific Projection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7B9F0867-50EA-82A3-3161-1F2C7BD07F77}"/>
              </a:ext>
            </a:extLst>
          </p:cNvPr>
          <p:cNvSpPr/>
          <p:nvPr/>
        </p:nvSpPr>
        <p:spPr>
          <a:xfrm>
            <a:off x="6442509" y="462012"/>
            <a:ext cx="202130" cy="202130"/>
          </a:xfrm>
          <a:prstGeom prst="ellipse">
            <a:avLst/>
          </a:prstGeom>
          <a:solidFill>
            <a:srgbClr val="FFFFFF"/>
          </a:solidFill>
          <a:ln w="12987" cap="flat">
            <a:solidFill>
              <a:srgbClr val="7C3AED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D1FD068-7C52-3CCB-63EC-1FF955027CC1}"/>
              </a:ext>
            </a:extLst>
          </p:cNvPr>
          <p:cNvSpPr txBox="1"/>
          <p:nvPr/>
        </p:nvSpPr>
        <p:spPr>
          <a:xfrm>
            <a:off x="6420016" y="456109"/>
            <a:ext cx="247117" cy="2204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200" b="1" spc="0" baseline="0">
                <a:ln/>
                <a:solidFill>
                  <a:srgbClr val="7C3AED"/>
                </a:solidFill>
                <a:latin typeface="Arial"/>
                <a:cs typeface="Arial"/>
                <a:sym typeface="Arial"/>
                <a:rtl val="0"/>
              </a:rPr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14BB7F9-5A8F-6B46-9D8B-CB3BE24E9364}"/>
              </a:ext>
            </a:extLst>
          </p:cNvPr>
          <p:cNvSpPr txBox="1"/>
          <p:nvPr/>
        </p:nvSpPr>
        <p:spPr>
          <a:xfrm>
            <a:off x="6625389" y="449574"/>
            <a:ext cx="1396858" cy="2285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275" b="1" spc="0" baseline="0">
                <a:ln/>
                <a:solidFill>
                  <a:srgbClr val="0F172A"/>
                </a:solidFill>
                <a:latin typeface="Arial"/>
                <a:cs typeface="Arial"/>
                <a:sym typeface="Arial"/>
                <a:rtl val="0"/>
              </a:rPr>
              <a:t>3-layer HGT Encoder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1380B8CA-C3A0-00FC-AE75-06BD2D8D0D30}"/>
              </a:ext>
            </a:extLst>
          </p:cNvPr>
          <p:cNvSpPr/>
          <p:nvPr/>
        </p:nvSpPr>
        <p:spPr>
          <a:xfrm>
            <a:off x="9438372" y="462012"/>
            <a:ext cx="202130" cy="202130"/>
          </a:xfrm>
          <a:prstGeom prst="ellipse">
            <a:avLst/>
          </a:prstGeom>
          <a:solidFill>
            <a:srgbClr val="FFFFFF"/>
          </a:solidFill>
          <a:ln w="12987" cap="flat">
            <a:solidFill>
              <a:srgbClr val="2563EB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7836B2C-1B15-DAB4-7344-018FE5ADDF0F}"/>
              </a:ext>
            </a:extLst>
          </p:cNvPr>
          <p:cNvSpPr txBox="1"/>
          <p:nvPr/>
        </p:nvSpPr>
        <p:spPr>
          <a:xfrm>
            <a:off x="9415879" y="456109"/>
            <a:ext cx="247117" cy="2204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200" b="1" spc="0" baseline="0">
                <a:ln/>
                <a:solidFill>
                  <a:srgbClr val="2563EB"/>
                </a:solidFill>
                <a:latin typeface="Arial"/>
                <a:cs typeface="Arial"/>
                <a:sym typeface="Arial"/>
                <a:rtl val="0"/>
              </a:rPr>
              <a:t>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341414A-7782-1D0E-54CD-76146335245D}"/>
              </a:ext>
            </a:extLst>
          </p:cNvPr>
          <p:cNvSpPr txBox="1"/>
          <p:nvPr/>
        </p:nvSpPr>
        <p:spPr>
          <a:xfrm>
            <a:off x="9621252" y="452842"/>
            <a:ext cx="1817538" cy="2245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238" b="1" spc="0" baseline="0">
                <a:ln/>
                <a:solidFill>
                  <a:srgbClr val="0F172A"/>
                </a:solidFill>
                <a:latin typeface="Arial"/>
                <a:cs typeface="Arial"/>
                <a:sym typeface="Arial"/>
                <a:rtl val="0"/>
              </a:rPr>
              <a:t>Actor-Critic Decision Module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75287D74-2BD7-E993-C201-B1973B22A59E}"/>
              </a:ext>
            </a:extLst>
          </p:cNvPr>
          <p:cNvSpPr/>
          <p:nvPr/>
        </p:nvSpPr>
        <p:spPr>
          <a:xfrm>
            <a:off x="501315" y="721894"/>
            <a:ext cx="1588168" cy="4908884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987" cap="flat">
            <a:solidFill>
              <a:srgbClr val="2563EB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AE97A6B-00D0-3357-7EF3-F16E5E013CEA}"/>
              </a:ext>
            </a:extLst>
          </p:cNvPr>
          <p:cNvSpPr txBox="1"/>
          <p:nvPr/>
        </p:nvSpPr>
        <p:spPr>
          <a:xfrm>
            <a:off x="579379" y="760673"/>
            <a:ext cx="1432039" cy="2366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350" b="1" spc="0" baseline="0">
                <a:ln/>
                <a:solidFill>
                  <a:srgbClr val="2563EB"/>
                </a:solidFill>
                <a:latin typeface="Arial"/>
                <a:cs typeface="Arial"/>
                <a:sym typeface="Arial"/>
                <a:rtl val="0"/>
              </a:rPr>
              <a:t>Current Traffic State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CF24B73-D1A1-FFBF-6D38-96A4915AD916}"/>
              </a:ext>
            </a:extLst>
          </p:cNvPr>
          <p:cNvSpPr txBox="1"/>
          <p:nvPr/>
        </p:nvSpPr>
        <p:spPr>
          <a:xfrm>
            <a:off x="896209" y="966603"/>
            <a:ext cx="798379" cy="1962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975" i="1" spc="0" baseline="0">
                <a:ln/>
                <a:solidFill>
                  <a:srgbClr val="475569"/>
                </a:solidFill>
                <a:latin typeface="Arial"/>
                <a:cs typeface="Arial"/>
                <a:sym typeface="Arial"/>
                <a:rtl val="0"/>
              </a:rPr>
              <a:t>Decision step t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6AB42343-1840-2713-CDAE-C91BE7FCF641}"/>
              </a:ext>
            </a:extLst>
          </p:cNvPr>
          <p:cNvSpPr/>
          <p:nvPr/>
        </p:nvSpPr>
        <p:spPr>
          <a:xfrm>
            <a:off x="608156" y="1283528"/>
            <a:ext cx="31763" cy="31763"/>
          </a:xfrm>
          <a:prstGeom prst="ellipse">
            <a:avLst/>
          </a:prstGeom>
          <a:solidFill>
            <a:srgbClr val="0F172A"/>
          </a:solidFill>
          <a:ln w="8658" cap="flat">
            <a:solidFill>
              <a:srgbClr val="0F172A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B3C9469-C43E-AD18-F7A7-5FAF4D6E06D2}"/>
              </a:ext>
            </a:extLst>
          </p:cNvPr>
          <p:cNvSpPr txBox="1"/>
          <p:nvPr/>
        </p:nvSpPr>
        <p:spPr>
          <a:xfrm>
            <a:off x="604787" y="1197609"/>
            <a:ext cx="1246945" cy="1962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975" spc="0" baseline="0">
                <a:ln/>
                <a:solidFill>
                  <a:srgbClr val="0F172A"/>
                </a:solidFill>
                <a:latin typeface="Arial"/>
                <a:cs typeface="Arial"/>
                <a:sym typeface="Arial"/>
                <a:rtl val="0"/>
              </a:rPr>
              <a:t>Vehicles and arrival times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FB1E3B6E-DC8E-65A9-5C46-7BF83A2BA4CD}"/>
              </a:ext>
            </a:extLst>
          </p:cNvPr>
          <p:cNvSpPr/>
          <p:nvPr/>
        </p:nvSpPr>
        <p:spPr>
          <a:xfrm>
            <a:off x="608156" y="1442345"/>
            <a:ext cx="31763" cy="31763"/>
          </a:xfrm>
          <a:prstGeom prst="ellipse">
            <a:avLst/>
          </a:prstGeom>
          <a:solidFill>
            <a:srgbClr val="0F172A"/>
          </a:solidFill>
          <a:ln w="8658" cap="flat">
            <a:solidFill>
              <a:srgbClr val="0F172A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8FD1C04-ABE3-344D-710F-30796EBC6EC8}"/>
              </a:ext>
            </a:extLst>
          </p:cNvPr>
          <p:cNvSpPr txBox="1"/>
          <p:nvPr/>
        </p:nvSpPr>
        <p:spPr>
          <a:xfrm>
            <a:off x="604787" y="1356426"/>
            <a:ext cx="1419241" cy="1962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975" spc="0" baseline="0">
                <a:ln/>
                <a:solidFill>
                  <a:srgbClr val="0F172A"/>
                </a:solidFill>
                <a:latin typeface="Arial"/>
                <a:cs typeface="Arial"/>
                <a:sym typeface="Arial"/>
                <a:rtl val="0"/>
              </a:rPr>
              <a:t>Routes through conflict zones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A585DB32-3837-1251-6896-C51309049F07}"/>
              </a:ext>
            </a:extLst>
          </p:cNvPr>
          <p:cNvSpPr/>
          <p:nvPr/>
        </p:nvSpPr>
        <p:spPr>
          <a:xfrm>
            <a:off x="608156" y="1601162"/>
            <a:ext cx="31763" cy="31763"/>
          </a:xfrm>
          <a:prstGeom prst="ellipse">
            <a:avLst/>
          </a:prstGeom>
          <a:solidFill>
            <a:srgbClr val="0F172A"/>
          </a:solidFill>
          <a:ln w="8658" cap="flat">
            <a:solidFill>
              <a:srgbClr val="0F172A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9761791-1B92-2421-03F1-7F7BDC32AC97}"/>
              </a:ext>
            </a:extLst>
          </p:cNvPr>
          <p:cNvSpPr txBox="1"/>
          <p:nvPr/>
        </p:nvSpPr>
        <p:spPr>
          <a:xfrm>
            <a:off x="604787" y="1515243"/>
            <a:ext cx="855796" cy="1962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975" spc="0" baseline="0">
                <a:ln/>
                <a:solidFill>
                  <a:srgbClr val="0F172A"/>
                </a:solidFill>
                <a:latin typeface="Arial"/>
                <a:cs typeface="Arial"/>
                <a:sym typeface="Arial"/>
                <a:rtl val="0"/>
              </a:rPr>
              <a:t>Zone availability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D78BC683-3480-B48C-0385-1FB26624F8C4}"/>
              </a:ext>
            </a:extLst>
          </p:cNvPr>
          <p:cNvSpPr/>
          <p:nvPr/>
        </p:nvSpPr>
        <p:spPr>
          <a:xfrm>
            <a:off x="608156" y="1759979"/>
            <a:ext cx="31763" cy="31763"/>
          </a:xfrm>
          <a:prstGeom prst="ellipse">
            <a:avLst/>
          </a:prstGeom>
          <a:solidFill>
            <a:srgbClr val="0F172A"/>
          </a:solidFill>
          <a:ln w="8658" cap="flat">
            <a:solidFill>
              <a:srgbClr val="0F172A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00BB199-5B01-45A1-8129-008EFCE85261}"/>
              </a:ext>
            </a:extLst>
          </p:cNvPr>
          <p:cNvSpPr txBox="1"/>
          <p:nvPr/>
        </p:nvSpPr>
        <p:spPr>
          <a:xfrm>
            <a:off x="604787" y="1674060"/>
            <a:ext cx="1236863" cy="1962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975" spc="0" baseline="0">
                <a:ln/>
                <a:solidFill>
                  <a:srgbClr val="0F172A"/>
                </a:solidFill>
                <a:latin typeface="Arial"/>
                <a:cs typeface="Arial"/>
                <a:sym typeface="Arial"/>
                <a:rtl val="0"/>
              </a:rPr>
              <a:t>Scheduled / unscheduled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D72BD6C1-0806-D984-23B9-3EA2A41E8779}"/>
              </a:ext>
            </a:extLst>
          </p:cNvPr>
          <p:cNvSpPr/>
          <p:nvPr/>
        </p:nvSpPr>
        <p:spPr>
          <a:xfrm>
            <a:off x="608156" y="1918796"/>
            <a:ext cx="31763" cy="31763"/>
          </a:xfrm>
          <a:prstGeom prst="ellipse">
            <a:avLst/>
          </a:prstGeom>
          <a:solidFill>
            <a:srgbClr val="0F172A"/>
          </a:solidFill>
          <a:ln w="8658" cap="flat">
            <a:solidFill>
              <a:srgbClr val="0F172A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6EF7EDE-379E-0074-9CB7-D95A93A26193}"/>
              </a:ext>
            </a:extLst>
          </p:cNvPr>
          <p:cNvSpPr txBox="1"/>
          <p:nvPr/>
        </p:nvSpPr>
        <p:spPr>
          <a:xfrm>
            <a:off x="604787" y="1832877"/>
            <a:ext cx="621134" cy="1962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975" spc="0" baseline="0">
                <a:ln/>
                <a:solidFill>
                  <a:srgbClr val="0F172A"/>
                </a:solidFill>
                <a:latin typeface="Arial"/>
                <a:cs typeface="Arial"/>
                <a:sym typeface="Arial"/>
                <a:rtl val="0"/>
              </a:rPr>
              <a:t>operations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FFFEEBC9-081D-3E46-A54C-2177518DCEB5}"/>
              </a:ext>
            </a:extLst>
          </p:cNvPr>
          <p:cNvSpPr/>
          <p:nvPr/>
        </p:nvSpPr>
        <p:spPr>
          <a:xfrm>
            <a:off x="608156" y="2077613"/>
            <a:ext cx="31763" cy="31763"/>
          </a:xfrm>
          <a:prstGeom prst="ellipse">
            <a:avLst/>
          </a:prstGeom>
          <a:solidFill>
            <a:srgbClr val="0F172A"/>
          </a:solidFill>
          <a:ln w="8658" cap="flat">
            <a:solidFill>
              <a:srgbClr val="0F172A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93D69A8-DA54-05B0-ACEE-44E6A2058BEE}"/>
              </a:ext>
            </a:extLst>
          </p:cNvPr>
          <p:cNvSpPr txBox="1"/>
          <p:nvPr/>
        </p:nvSpPr>
        <p:spPr>
          <a:xfrm>
            <a:off x="604787" y="1991693"/>
            <a:ext cx="1073595" cy="19724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975" spc="0" baseline="0">
                <a:ln/>
                <a:solidFill>
                  <a:srgbClr val="0F172A"/>
                </a:solidFill>
                <a:latin typeface="Arial"/>
                <a:cs typeface="Arial"/>
                <a:sym typeface="Arial"/>
                <a:rtl val="0"/>
              </a:rPr>
              <a:t>Feasible action set A</a:t>
            </a:r>
            <a:r>
              <a:rPr lang="en-US" sz="975" spc="0" baseline="0">
                <a:ln/>
                <a:solidFill>
                  <a:srgbClr val="0F172A"/>
                </a:solidFill>
                <a:latin typeface="Cambria Math"/>
                <a:ea typeface="Cambria Math"/>
                <a:cs typeface="Arial"/>
                <a:sym typeface="Cambria Math"/>
                <a:rtl val="0"/>
              </a:rPr>
              <a:t>ₜ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62F4C4D-BAF0-87A3-1B41-60085623115D}"/>
              </a:ext>
            </a:extLst>
          </p:cNvPr>
          <p:cNvSpPr txBox="1"/>
          <p:nvPr/>
        </p:nvSpPr>
        <p:spPr>
          <a:xfrm>
            <a:off x="573040" y="2345422"/>
            <a:ext cx="1444718" cy="1962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975" b="1" spc="0" baseline="0">
                <a:ln/>
                <a:solidFill>
                  <a:srgbClr val="0F172A"/>
                </a:solidFill>
                <a:latin typeface="Arial"/>
                <a:cs typeface="Arial"/>
                <a:sym typeface="Arial"/>
                <a:rtl val="0"/>
              </a:rPr>
              <a:t>Intersection / Conflict Zones</a:t>
            </a:r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D71D866D-144C-79BC-D718-2144678E8306}"/>
              </a:ext>
            </a:extLst>
          </p:cNvPr>
          <p:cNvSpPr/>
          <p:nvPr/>
        </p:nvSpPr>
        <p:spPr>
          <a:xfrm>
            <a:off x="645694" y="3262964"/>
            <a:ext cx="1299410" cy="7218"/>
          </a:xfrm>
          <a:custGeom>
            <a:avLst/>
            <a:gdLst>
              <a:gd name="csX0" fmla="*/ 0 w 1299410"/>
              <a:gd name="csY0" fmla="*/ 0 h 7218"/>
              <a:gd name="csX1" fmla="*/ 1299411 w 1299410"/>
              <a:gd name="csY1" fmla="*/ 0 h 7218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299410" h="7218">
                <a:moveTo>
                  <a:pt x="0" y="0"/>
                </a:moveTo>
                <a:lnTo>
                  <a:pt x="1299411" y="0"/>
                </a:lnTo>
              </a:path>
            </a:pathLst>
          </a:custGeom>
          <a:ln w="14430" cap="flat">
            <a:solidFill>
              <a:srgbClr val="475569"/>
            </a:solidFill>
            <a:custDash>
              <a:ds d="600000" sp="525000"/>
            </a:custDash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48A6DD49-436E-B232-F54E-4A0B3CB2DC7E}"/>
              </a:ext>
            </a:extLst>
          </p:cNvPr>
          <p:cNvSpPr/>
          <p:nvPr/>
        </p:nvSpPr>
        <p:spPr>
          <a:xfrm>
            <a:off x="1295399" y="2613258"/>
            <a:ext cx="7218" cy="1357162"/>
          </a:xfrm>
          <a:custGeom>
            <a:avLst/>
            <a:gdLst>
              <a:gd name="csX0" fmla="*/ 0 w 7218"/>
              <a:gd name="csY0" fmla="*/ 0 h 1357162"/>
              <a:gd name="csX1" fmla="*/ 0 w 7218"/>
              <a:gd name="csY1" fmla="*/ 1357162 h 1357162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7218" h="1357162">
                <a:moveTo>
                  <a:pt x="0" y="0"/>
                </a:moveTo>
                <a:lnTo>
                  <a:pt x="0" y="1357162"/>
                </a:lnTo>
              </a:path>
            </a:pathLst>
          </a:custGeom>
          <a:ln w="14430" cap="flat">
            <a:solidFill>
              <a:srgbClr val="475569"/>
            </a:solidFill>
            <a:custDash>
              <a:ds d="600000" sp="525000"/>
            </a:custDash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0E703805-6329-27C2-9212-590BEE3AD2FE}"/>
              </a:ext>
            </a:extLst>
          </p:cNvPr>
          <p:cNvSpPr/>
          <p:nvPr/>
        </p:nvSpPr>
        <p:spPr>
          <a:xfrm>
            <a:off x="883919" y="2786513"/>
            <a:ext cx="245444" cy="245444"/>
          </a:xfrm>
          <a:prstGeom prst="roundRect">
            <a:avLst>
              <a:gd name="adj" fmla="val 5882"/>
            </a:avLst>
          </a:prstGeom>
          <a:solidFill>
            <a:srgbClr val="FFEDD5"/>
          </a:solidFill>
          <a:ln w="10101" cap="flat">
            <a:solidFill>
              <a:srgbClr val="D97706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E2060AD-D96C-857C-E0EC-D5BFF1AB5AB6}"/>
              </a:ext>
            </a:extLst>
          </p:cNvPr>
          <p:cNvSpPr txBox="1"/>
          <p:nvPr/>
        </p:nvSpPr>
        <p:spPr>
          <a:xfrm>
            <a:off x="885090" y="2801583"/>
            <a:ext cx="243102" cy="2124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25" b="1" spc="0" baseline="0">
                <a:ln/>
                <a:solidFill>
                  <a:srgbClr val="B45309"/>
                </a:solidFill>
                <a:latin typeface="Arial"/>
                <a:cs typeface="Arial"/>
                <a:sym typeface="Arial"/>
                <a:rtl val="0"/>
              </a:rPr>
              <a:t>1</a:t>
            </a: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47C18867-D4D7-F589-39F3-7721CC8E76FE}"/>
              </a:ext>
            </a:extLst>
          </p:cNvPr>
          <p:cNvSpPr/>
          <p:nvPr/>
        </p:nvSpPr>
        <p:spPr>
          <a:xfrm>
            <a:off x="1194334" y="2786513"/>
            <a:ext cx="245444" cy="245444"/>
          </a:xfrm>
          <a:prstGeom prst="roundRect">
            <a:avLst>
              <a:gd name="adj" fmla="val 5882"/>
            </a:avLst>
          </a:prstGeom>
          <a:solidFill>
            <a:srgbClr val="FFEDD5"/>
          </a:solidFill>
          <a:ln w="10101" cap="flat">
            <a:solidFill>
              <a:srgbClr val="D97706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A2C27C3-D818-ECDB-0BDF-D521D6F241C0}"/>
              </a:ext>
            </a:extLst>
          </p:cNvPr>
          <p:cNvSpPr txBox="1"/>
          <p:nvPr/>
        </p:nvSpPr>
        <p:spPr>
          <a:xfrm>
            <a:off x="1195505" y="2801583"/>
            <a:ext cx="243102" cy="2124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25" b="1" spc="0" baseline="0">
                <a:ln/>
                <a:solidFill>
                  <a:srgbClr val="B45309"/>
                </a:solidFill>
                <a:latin typeface="Arial"/>
                <a:cs typeface="Arial"/>
                <a:sym typeface="Arial"/>
                <a:rtl val="0"/>
              </a:rPr>
              <a:t>2</a:t>
            </a: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49C8C38E-E46F-E984-6709-FD3EF6C9416A}"/>
              </a:ext>
            </a:extLst>
          </p:cNvPr>
          <p:cNvSpPr/>
          <p:nvPr/>
        </p:nvSpPr>
        <p:spPr>
          <a:xfrm>
            <a:off x="1504749" y="2786513"/>
            <a:ext cx="245444" cy="245444"/>
          </a:xfrm>
          <a:prstGeom prst="roundRect">
            <a:avLst>
              <a:gd name="adj" fmla="val 5882"/>
            </a:avLst>
          </a:prstGeom>
          <a:solidFill>
            <a:srgbClr val="FFEDD5"/>
          </a:solidFill>
          <a:ln w="10101" cap="flat">
            <a:solidFill>
              <a:srgbClr val="D97706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751E208-377B-FCE8-FFF7-685767AA2332}"/>
              </a:ext>
            </a:extLst>
          </p:cNvPr>
          <p:cNvSpPr txBox="1"/>
          <p:nvPr/>
        </p:nvSpPr>
        <p:spPr>
          <a:xfrm>
            <a:off x="1505920" y="2801583"/>
            <a:ext cx="243102" cy="2124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25" b="1" spc="0" baseline="0">
                <a:ln/>
                <a:solidFill>
                  <a:srgbClr val="B45309"/>
                </a:solidFill>
                <a:latin typeface="Arial"/>
                <a:cs typeface="Arial"/>
                <a:sym typeface="Arial"/>
                <a:rtl val="0"/>
              </a:rPr>
              <a:t>3</a:t>
            </a: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6DC94266-3FBA-A469-74DF-660385852471}"/>
              </a:ext>
            </a:extLst>
          </p:cNvPr>
          <p:cNvSpPr/>
          <p:nvPr/>
        </p:nvSpPr>
        <p:spPr>
          <a:xfrm>
            <a:off x="883919" y="3096928"/>
            <a:ext cx="245444" cy="245444"/>
          </a:xfrm>
          <a:prstGeom prst="roundRect">
            <a:avLst>
              <a:gd name="adj" fmla="val 5882"/>
            </a:avLst>
          </a:prstGeom>
          <a:solidFill>
            <a:srgbClr val="FFEDD5"/>
          </a:solidFill>
          <a:ln w="10101" cap="flat">
            <a:solidFill>
              <a:srgbClr val="D97706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28A78C2-56F9-36D6-0F81-EE85D132E59C}"/>
              </a:ext>
            </a:extLst>
          </p:cNvPr>
          <p:cNvSpPr txBox="1"/>
          <p:nvPr/>
        </p:nvSpPr>
        <p:spPr>
          <a:xfrm>
            <a:off x="885090" y="3111998"/>
            <a:ext cx="243102" cy="2124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25" b="1" spc="0" baseline="0">
                <a:ln/>
                <a:solidFill>
                  <a:srgbClr val="B45309"/>
                </a:solidFill>
                <a:latin typeface="Arial"/>
                <a:cs typeface="Arial"/>
                <a:sym typeface="Arial"/>
                <a:rtl val="0"/>
              </a:rPr>
              <a:t>4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8E6C5612-7CA5-CCFB-39BB-283B1CDED470}"/>
              </a:ext>
            </a:extLst>
          </p:cNvPr>
          <p:cNvSpPr/>
          <p:nvPr/>
        </p:nvSpPr>
        <p:spPr>
          <a:xfrm>
            <a:off x="1194334" y="3096928"/>
            <a:ext cx="245444" cy="245444"/>
          </a:xfrm>
          <a:prstGeom prst="roundRect">
            <a:avLst>
              <a:gd name="adj" fmla="val 5882"/>
            </a:avLst>
          </a:prstGeom>
          <a:solidFill>
            <a:srgbClr val="FFEDD5"/>
          </a:solidFill>
          <a:ln w="10101" cap="flat">
            <a:solidFill>
              <a:srgbClr val="D97706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85E6D17-CD87-BFEF-F215-E7509AEFA5B1}"/>
              </a:ext>
            </a:extLst>
          </p:cNvPr>
          <p:cNvSpPr txBox="1"/>
          <p:nvPr/>
        </p:nvSpPr>
        <p:spPr>
          <a:xfrm>
            <a:off x="1195505" y="3111998"/>
            <a:ext cx="243102" cy="2124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25" b="1" spc="0" baseline="0">
                <a:ln/>
                <a:solidFill>
                  <a:srgbClr val="B45309"/>
                </a:solidFill>
                <a:latin typeface="Arial"/>
                <a:cs typeface="Arial"/>
                <a:sym typeface="Arial"/>
                <a:rtl val="0"/>
              </a:rPr>
              <a:t>5</a:t>
            </a: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F13558C4-12EB-12D7-DE93-D11DE6A6C9FB}"/>
              </a:ext>
            </a:extLst>
          </p:cNvPr>
          <p:cNvSpPr/>
          <p:nvPr/>
        </p:nvSpPr>
        <p:spPr>
          <a:xfrm>
            <a:off x="1504749" y="3096928"/>
            <a:ext cx="245444" cy="245444"/>
          </a:xfrm>
          <a:prstGeom prst="roundRect">
            <a:avLst>
              <a:gd name="adj" fmla="val 5882"/>
            </a:avLst>
          </a:prstGeom>
          <a:solidFill>
            <a:srgbClr val="FFEDD5"/>
          </a:solidFill>
          <a:ln w="10101" cap="flat">
            <a:solidFill>
              <a:srgbClr val="D97706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A4F1A5F-6725-F5E3-40C7-9804994728FA}"/>
              </a:ext>
            </a:extLst>
          </p:cNvPr>
          <p:cNvSpPr txBox="1"/>
          <p:nvPr/>
        </p:nvSpPr>
        <p:spPr>
          <a:xfrm>
            <a:off x="1505920" y="3111998"/>
            <a:ext cx="243102" cy="2124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25" b="1" spc="0" baseline="0">
                <a:ln/>
                <a:solidFill>
                  <a:srgbClr val="B45309"/>
                </a:solidFill>
                <a:latin typeface="Arial"/>
                <a:cs typeface="Arial"/>
                <a:sym typeface="Arial"/>
                <a:rtl val="0"/>
              </a:rPr>
              <a:t>6</a:t>
            </a:r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EC0B447C-CB0B-ACFA-6D5D-C51C42A67491}"/>
              </a:ext>
            </a:extLst>
          </p:cNvPr>
          <p:cNvSpPr/>
          <p:nvPr/>
        </p:nvSpPr>
        <p:spPr>
          <a:xfrm>
            <a:off x="883919" y="3407343"/>
            <a:ext cx="245444" cy="245444"/>
          </a:xfrm>
          <a:prstGeom prst="roundRect">
            <a:avLst>
              <a:gd name="adj" fmla="val 5882"/>
            </a:avLst>
          </a:prstGeom>
          <a:solidFill>
            <a:srgbClr val="FFEDD5"/>
          </a:solidFill>
          <a:ln w="10101" cap="flat">
            <a:solidFill>
              <a:srgbClr val="D97706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F66C2DB-C23F-71F3-2E0D-40112DFA2A9E}"/>
              </a:ext>
            </a:extLst>
          </p:cNvPr>
          <p:cNvSpPr txBox="1"/>
          <p:nvPr/>
        </p:nvSpPr>
        <p:spPr>
          <a:xfrm>
            <a:off x="885090" y="3422413"/>
            <a:ext cx="243102" cy="2124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25" b="1" spc="0" baseline="0">
                <a:ln/>
                <a:solidFill>
                  <a:srgbClr val="B45309"/>
                </a:solidFill>
                <a:latin typeface="Arial"/>
                <a:cs typeface="Arial"/>
                <a:sym typeface="Arial"/>
                <a:rtl val="0"/>
              </a:rPr>
              <a:t>7</a:t>
            </a:r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3B8564AA-AA88-D2BC-EC57-59A1E2601964}"/>
              </a:ext>
            </a:extLst>
          </p:cNvPr>
          <p:cNvSpPr/>
          <p:nvPr/>
        </p:nvSpPr>
        <p:spPr>
          <a:xfrm>
            <a:off x="1194334" y="3407343"/>
            <a:ext cx="245444" cy="245444"/>
          </a:xfrm>
          <a:prstGeom prst="roundRect">
            <a:avLst>
              <a:gd name="adj" fmla="val 5882"/>
            </a:avLst>
          </a:prstGeom>
          <a:solidFill>
            <a:srgbClr val="FFEDD5"/>
          </a:solidFill>
          <a:ln w="10101" cap="flat">
            <a:solidFill>
              <a:srgbClr val="D97706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580649D-2AFF-6523-01EE-5054BF582E39}"/>
              </a:ext>
            </a:extLst>
          </p:cNvPr>
          <p:cNvSpPr txBox="1"/>
          <p:nvPr/>
        </p:nvSpPr>
        <p:spPr>
          <a:xfrm>
            <a:off x="1195505" y="3422413"/>
            <a:ext cx="243102" cy="2124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25" b="1" spc="0" baseline="0">
                <a:ln/>
                <a:solidFill>
                  <a:srgbClr val="B45309"/>
                </a:solidFill>
                <a:latin typeface="Arial"/>
                <a:cs typeface="Arial"/>
                <a:sym typeface="Arial"/>
                <a:rtl val="0"/>
              </a:rPr>
              <a:t>8</a:t>
            </a: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6974C370-B1A9-A09D-D7EA-03246A8A2412}"/>
              </a:ext>
            </a:extLst>
          </p:cNvPr>
          <p:cNvSpPr/>
          <p:nvPr/>
        </p:nvSpPr>
        <p:spPr>
          <a:xfrm>
            <a:off x="1504749" y="3407343"/>
            <a:ext cx="245444" cy="245444"/>
          </a:xfrm>
          <a:prstGeom prst="roundRect">
            <a:avLst>
              <a:gd name="adj" fmla="val 5882"/>
            </a:avLst>
          </a:prstGeom>
          <a:solidFill>
            <a:srgbClr val="FFEDD5"/>
          </a:solidFill>
          <a:ln w="10101" cap="flat">
            <a:solidFill>
              <a:srgbClr val="D97706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D9E1826-9F9A-1A43-D00E-DC65B00FD9BC}"/>
              </a:ext>
            </a:extLst>
          </p:cNvPr>
          <p:cNvSpPr txBox="1"/>
          <p:nvPr/>
        </p:nvSpPr>
        <p:spPr>
          <a:xfrm>
            <a:off x="1505920" y="3422413"/>
            <a:ext cx="243102" cy="2124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25" b="1" spc="0" baseline="0">
                <a:ln/>
                <a:solidFill>
                  <a:srgbClr val="B45309"/>
                </a:solidFill>
                <a:latin typeface="Arial"/>
                <a:cs typeface="Arial"/>
                <a:sym typeface="Arial"/>
                <a:rtl val="0"/>
              </a:rPr>
              <a:t>9</a:t>
            </a:r>
          </a:p>
        </p:txBody>
      </p:sp>
      <p:sp>
        <p:nvSpPr>
          <p:cNvPr id="61" name="Freeform: Shape 60">
            <a:extLst>
              <a:ext uri="{FF2B5EF4-FFF2-40B4-BE49-F238E27FC236}">
                <a16:creationId xmlns:a16="http://schemas.microsoft.com/office/drawing/2014/main" id="{EC6FA9CA-D41B-340E-6333-C5D253893340}"/>
              </a:ext>
            </a:extLst>
          </p:cNvPr>
          <p:cNvSpPr/>
          <p:nvPr/>
        </p:nvSpPr>
        <p:spPr>
          <a:xfrm>
            <a:off x="667351" y="3672639"/>
            <a:ext cx="1241658" cy="165782"/>
          </a:xfrm>
          <a:custGeom>
            <a:avLst/>
            <a:gdLst>
              <a:gd name="csX0" fmla="*/ 0 w 1241658"/>
              <a:gd name="csY0" fmla="*/ 81213 h 165782"/>
              <a:gd name="csX1" fmla="*/ 462013 w 1241658"/>
              <a:gd name="csY1" fmla="*/ 81213 h 165782"/>
              <a:gd name="csX2" fmla="*/ 1241659 w 1241658"/>
              <a:gd name="csY2" fmla="*/ 9024 h 16578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241658" h="165782">
                <a:moveTo>
                  <a:pt x="0" y="81213"/>
                </a:moveTo>
                <a:cubicBezTo>
                  <a:pt x="173255" y="-27071"/>
                  <a:pt x="310415" y="-27071"/>
                  <a:pt x="462013" y="81213"/>
                </a:cubicBezTo>
                <a:cubicBezTo>
                  <a:pt x="635267" y="203935"/>
                  <a:pt x="815741" y="203935"/>
                  <a:pt x="1241659" y="9024"/>
                </a:cubicBezTo>
              </a:path>
            </a:pathLst>
          </a:custGeom>
          <a:noFill/>
          <a:ln w="14430" cap="flat">
            <a:solidFill>
              <a:srgbClr val="059669"/>
            </a:solidFill>
            <a:custDash>
              <a:ds d="375000" sp="300000"/>
            </a:custDash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74ADEB2E-65ED-A8B4-8D06-44E0B4093702}"/>
              </a:ext>
            </a:extLst>
          </p:cNvPr>
          <p:cNvSpPr/>
          <p:nvPr/>
        </p:nvSpPr>
        <p:spPr>
          <a:xfrm>
            <a:off x="638475" y="3645568"/>
            <a:ext cx="202130" cy="86627"/>
          </a:xfrm>
          <a:prstGeom prst="roundRect">
            <a:avLst>
              <a:gd name="adj" fmla="val 25000"/>
            </a:avLst>
          </a:prstGeom>
          <a:solidFill>
            <a:srgbClr val="ECFDF5"/>
          </a:solidFill>
          <a:ln w="9380" cap="flat">
            <a:solidFill>
              <a:srgbClr val="059669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3B73F2CE-658D-2134-5DE1-F7868ABC431A}"/>
              </a:ext>
            </a:extLst>
          </p:cNvPr>
          <p:cNvSpPr/>
          <p:nvPr/>
        </p:nvSpPr>
        <p:spPr>
          <a:xfrm>
            <a:off x="660132" y="3724976"/>
            <a:ext cx="43313" cy="43313"/>
          </a:xfrm>
          <a:prstGeom prst="ellipse">
            <a:avLst/>
          </a:prstGeom>
          <a:solidFill>
            <a:srgbClr val="059669"/>
          </a:solidFill>
          <a:ln w="8658" cap="flat">
            <a:solidFill>
              <a:srgbClr val="059669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33938F27-A4C8-821F-DC0E-5BD147271408}"/>
              </a:ext>
            </a:extLst>
          </p:cNvPr>
          <p:cNvSpPr/>
          <p:nvPr/>
        </p:nvSpPr>
        <p:spPr>
          <a:xfrm>
            <a:off x="775635" y="3724976"/>
            <a:ext cx="43313" cy="43313"/>
          </a:xfrm>
          <a:prstGeom prst="ellipse">
            <a:avLst/>
          </a:prstGeom>
          <a:solidFill>
            <a:srgbClr val="059669"/>
          </a:solidFill>
          <a:ln w="8658" cap="flat">
            <a:solidFill>
              <a:srgbClr val="059669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2AB65844-F8C2-79F5-D509-F26862F4B6B4}"/>
              </a:ext>
            </a:extLst>
          </p:cNvPr>
          <p:cNvSpPr txBox="1"/>
          <p:nvPr/>
        </p:nvSpPr>
        <p:spPr>
          <a:xfrm>
            <a:off x="532597" y="4131769"/>
            <a:ext cx="950157" cy="1922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938" b="1" spc="0" baseline="0">
                <a:ln/>
                <a:solidFill>
                  <a:srgbClr val="0F172A"/>
                </a:solidFill>
                <a:latin typeface="Arial"/>
                <a:cs typeface="Arial"/>
                <a:sym typeface="Arial"/>
                <a:rtl val="0"/>
              </a:rPr>
              <a:t>Schematic legend</a:t>
            </a: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F3107DDB-FAD1-4F5A-B267-47A6823F7F3C}"/>
              </a:ext>
            </a:extLst>
          </p:cNvPr>
          <p:cNvSpPr/>
          <p:nvPr/>
        </p:nvSpPr>
        <p:spPr>
          <a:xfrm>
            <a:off x="645694" y="4389120"/>
            <a:ext cx="101065" cy="101065"/>
          </a:xfrm>
          <a:prstGeom prst="ellipse">
            <a:avLst/>
          </a:prstGeom>
          <a:solidFill>
            <a:srgbClr val="EFF6FF"/>
          </a:solidFill>
          <a:ln w="8658" cap="flat">
            <a:solidFill>
              <a:srgbClr val="2563EB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B707221-EC6D-AC49-73CF-DD67DF80C96F}"/>
              </a:ext>
            </a:extLst>
          </p:cNvPr>
          <p:cNvSpPr txBox="1"/>
          <p:nvPr/>
        </p:nvSpPr>
        <p:spPr>
          <a:xfrm>
            <a:off x="734728" y="4348338"/>
            <a:ext cx="1093355" cy="1922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938" spc="0" baseline="0">
                <a:ln/>
                <a:solidFill>
                  <a:srgbClr val="0F172A"/>
                </a:solidFill>
                <a:latin typeface="Arial"/>
                <a:cs typeface="Arial"/>
                <a:sym typeface="Arial"/>
                <a:rtl val="0"/>
              </a:rPr>
              <a:t>Operation = action unit</a:t>
            </a:r>
          </a:p>
        </p:txBody>
      </p:sp>
      <p:sp>
        <p:nvSpPr>
          <p:cNvPr id="68" name="Freeform: Shape 67">
            <a:extLst>
              <a:ext uri="{FF2B5EF4-FFF2-40B4-BE49-F238E27FC236}">
                <a16:creationId xmlns:a16="http://schemas.microsoft.com/office/drawing/2014/main" id="{C6027220-FE9C-523D-9B63-37E8860EC10E}"/>
              </a:ext>
            </a:extLst>
          </p:cNvPr>
          <p:cNvSpPr/>
          <p:nvPr/>
        </p:nvSpPr>
        <p:spPr>
          <a:xfrm>
            <a:off x="631256" y="4663440"/>
            <a:ext cx="180473" cy="7218"/>
          </a:xfrm>
          <a:custGeom>
            <a:avLst/>
            <a:gdLst>
              <a:gd name="csX0" fmla="*/ 0 w 180473"/>
              <a:gd name="csY0" fmla="*/ 0 h 7218"/>
              <a:gd name="csX1" fmla="*/ 180474 w 180473"/>
              <a:gd name="csY1" fmla="*/ 0 h 7218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80473" h="7218">
                <a:moveTo>
                  <a:pt x="0" y="0"/>
                </a:moveTo>
                <a:lnTo>
                  <a:pt x="180474" y="0"/>
                </a:lnTo>
              </a:path>
            </a:pathLst>
          </a:custGeom>
          <a:ln w="12987" cap="flat">
            <a:solidFill>
              <a:srgbClr val="059669"/>
            </a:solidFill>
            <a:custDash>
              <a:ds d="375000" sp="225000"/>
            </a:custDash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28F4C4B7-C59A-D63A-1940-6012D2DD4D30}"/>
              </a:ext>
            </a:extLst>
          </p:cNvPr>
          <p:cNvSpPr txBox="1"/>
          <p:nvPr/>
        </p:nvSpPr>
        <p:spPr>
          <a:xfrm>
            <a:off x="778042" y="4572125"/>
            <a:ext cx="1070752" cy="1922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938" spc="0" baseline="0">
                <a:ln/>
                <a:solidFill>
                  <a:srgbClr val="0F172A"/>
                </a:solidFill>
                <a:latin typeface="Arial"/>
                <a:cs typeface="Arial"/>
                <a:sym typeface="Arial"/>
                <a:rtl val="0"/>
              </a:rPr>
              <a:t>Vehicle route / context</a:t>
            </a:r>
          </a:p>
        </p:txBody>
      </p:sp>
      <p:sp>
        <p:nvSpPr>
          <p:cNvPr id="70" name="Rectangle: Rounded Corners 69">
            <a:extLst>
              <a:ext uri="{FF2B5EF4-FFF2-40B4-BE49-F238E27FC236}">
                <a16:creationId xmlns:a16="http://schemas.microsoft.com/office/drawing/2014/main" id="{08F6B1CC-4B81-C7D9-056C-FC78D574E21C}"/>
              </a:ext>
            </a:extLst>
          </p:cNvPr>
          <p:cNvSpPr/>
          <p:nvPr/>
        </p:nvSpPr>
        <p:spPr>
          <a:xfrm>
            <a:off x="638475" y="4822256"/>
            <a:ext cx="115503" cy="115503"/>
          </a:xfrm>
          <a:prstGeom prst="roundRect">
            <a:avLst>
              <a:gd name="adj" fmla="val 12500"/>
            </a:avLst>
          </a:prstGeom>
          <a:solidFill>
            <a:srgbClr val="FFF7ED"/>
          </a:solidFill>
          <a:ln w="8658" cap="flat">
            <a:solidFill>
              <a:srgbClr val="D97706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7A7B2398-2029-9945-1000-598463E5F878}"/>
              </a:ext>
            </a:extLst>
          </p:cNvPr>
          <p:cNvSpPr txBox="1"/>
          <p:nvPr/>
        </p:nvSpPr>
        <p:spPr>
          <a:xfrm>
            <a:off x="734728" y="4788694"/>
            <a:ext cx="1070664" cy="1922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938" spc="0" baseline="0">
                <a:ln/>
                <a:solidFill>
                  <a:srgbClr val="0F172A"/>
                </a:solidFill>
                <a:latin typeface="Arial"/>
                <a:cs typeface="Arial"/>
                <a:sym typeface="Arial"/>
                <a:rtl val="0"/>
              </a:rPr>
              <a:t>Conflict zone / context</a:t>
            </a:r>
          </a:p>
        </p:txBody>
      </p:sp>
      <p:sp>
        <p:nvSpPr>
          <p:cNvPr id="72" name="Rectangle: Rounded Corners 71">
            <a:extLst>
              <a:ext uri="{FF2B5EF4-FFF2-40B4-BE49-F238E27FC236}">
                <a16:creationId xmlns:a16="http://schemas.microsoft.com/office/drawing/2014/main" id="{279251FD-D64A-D82B-8358-B40BF0C71B11}"/>
              </a:ext>
            </a:extLst>
          </p:cNvPr>
          <p:cNvSpPr/>
          <p:nvPr/>
        </p:nvSpPr>
        <p:spPr>
          <a:xfrm>
            <a:off x="609599" y="5111014"/>
            <a:ext cx="1371600" cy="353728"/>
          </a:xfrm>
          <a:prstGeom prst="roundRect">
            <a:avLst>
              <a:gd name="adj" fmla="val 12244"/>
            </a:avLst>
          </a:prstGeom>
          <a:solidFill>
            <a:srgbClr val="F1F5F9"/>
          </a:solidFill>
          <a:ln w="8658" cap="flat">
            <a:solidFill>
              <a:srgbClr val="CBD5E1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6AAC8860-14AD-23E4-BC12-11AF1973C433}"/>
              </a:ext>
            </a:extLst>
          </p:cNvPr>
          <p:cNvSpPr txBox="1"/>
          <p:nvPr/>
        </p:nvSpPr>
        <p:spPr>
          <a:xfrm>
            <a:off x="729770" y="5133212"/>
            <a:ext cx="1131259" cy="1857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877" spc="0" baseline="0">
                <a:ln/>
                <a:solidFill>
                  <a:srgbClr val="475569"/>
                </a:solidFill>
                <a:latin typeface="Arial"/>
                <a:cs typeface="Arial"/>
                <a:sym typeface="Arial"/>
                <a:rtl val="0"/>
              </a:rPr>
              <a:t>State is re-encoded after 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032DF9DB-FAA0-6BC5-BBAC-2D7F0B333852}"/>
              </a:ext>
            </a:extLst>
          </p:cNvPr>
          <p:cNvSpPr txBox="1"/>
          <p:nvPr/>
        </p:nvSpPr>
        <p:spPr>
          <a:xfrm>
            <a:off x="708592" y="5248716"/>
            <a:ext cx="1173613" cy="185799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 algn="l"/>
            <a:r>
              <a:rPr lang="en-US" sz="1316" spc="0" baseline="91220">
                <a:ln/>
                <a:solidFill>
                  <a:srgbClr val="475569"/>
                </a:solidFill>
                <a:latin typeface="Arial"/>
                <a:cs typeface="Arial"/>
                <a:sym typeface="Arial"/>
                <a:rtl val="0"/>
              </a:rPr>
              <a:t>each dispatching decision.</a:t>
            </a:r>
          </a:p>
        </p:txBody>
      </p:sp>
      <p:sp>
        <p:nvSpPr>
          <p:cNvPr id="75" name="Rectangle: Rounded Corners 74">
            <a:extLst>
              <a:ext uri="{FF2B5EF4-FFF2-40B4-BE49-F238E27FC236}">
                <a16:creationId xmlns:a16="http://schemas.microsoft.com/office/drawing/2014/main" id="{4F65E810-8B7B-8210-3C64-6DD4E0041A2E}"/>
              </a:ext>
            </a:extLst>
          </p:cNvPr>
          <p:cNvSpPr/>
          <p:nvPr/>
        </p:nvSpPr>
        <p:spPr>
          <a:xfrm>
            <a:off x="2269957" y="721894"/>
            <a:ext cx="2165684" cy="4908884"/>
          </a:xfrm>
          <a:prstGeom prst="roundRect">
            <a:avLst>
              <a:gd name="adj" fmla="val 2666"/>
            </a:avLst>
          </a:prstGeom>
          <a:solidFill>
            <a:srgbClr val="FFFFFF"/>
          </a:solidFill>
          <a:ln w="12987" cap="flat">
            <a:solidFill>
              <a:srgbClr val="2563EB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D880F2F8-132D-4E1B-B28D-BF3C45867186}"/>
              </a:ext>
            </a:extLst>
          </p:cNvPr>
          <p:cNvSpPr txBox="1"/>
          <p:nvPr/>
        </p:nvSpPr>
        <p:spPr>
          <a:xfrm>
            <a:off x="2488798" y="754835"/>
            <a:ext cx="1721552" cy="2437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350" b="1" spc="0" baseline="0">
                <a:ln/>
                <a:solidFill>
                  <a:srgbClr val="2563EB"/>
                </a:solidFill>
                <a:latin typeface="Arial"/>
                <a:cs typeface="Arial"/>
                <a:sym typeface="Arial"/>
                <a:rtl val="0"/>
              </a:rPr>
              <a:t>Heterogeneous Graph G</a:t>
            </a:r>
            <a:r>
              <a:rPr lang="en-US" sz="1350" b="1" spc="0" baseline="0">
                <a:ln/>
                <a:solidFill>
                  <a:srgbClr val="2563EB"/>
                </a:solidFill>
                <a:latin typeface="Cambria Math"/>
                <a:ea typeface="Cambria Math"/>
                <a:cs typeface="Arial"/>
                <a:sym typeface="Cambria Math"/>
                <a:rtl val="0"/>
              </a:rPr>
              <a:t>ₜ</a:t>
            </a:r>
          </a:p>
        </p:txBody>
      </p:sp>
      <p:sp>
        <p:nvSpPr>
          <p:cNvPr id="77" name="Rectangle: Rounded Corners 76">
            <a:extLst>
              <a:ext uri="{FF2B5EF4-FFF2-40B4-BE49-F238E27FC236}">
                <a16:creationId xmlns:a16="http://schemas.microsoft.com/office/drawing/2014/main" id="{9B8B4049-649B-781D-9B60-B32EF727C8FC}"/>
              </a:ext>
            </a:extLst>
          </p:cNvPr>
          <p:cNvSpPr/>
          <p:nvPr/>
        </p:nvSpPr>
        <p:spPr>
          <a:xfrm>
            <a:off x="2378242" y="1046747"/>
            <a:ext cx="1949115" cy="1046747"/>
          </a:xfrm>
          <a:prstGeom prst="roundRect">
            <a:avLst>
              <a:gd name="adj" fmla="val 5517"/>
            </a:avLst>
          </a:prstGeom>
          <a:solidFill>
            <a:srgbClr val="EFF6FF"/>
          </a:solidFill>
          <a:ln w="10823" cap="flat">
            <a:solidFill>
              <a:srgbClr val="2563EB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F875ED1C-4FBD-5704-0A8B-A90F4399E574}"/>
              </a:ext>
            </a:extLst>
          </p:cNvPr>
          <p:cNvSpPr txBox="1"/>
          <p:nvPr/>
        </p:nvSpPr>
        <p:spPr>
          <a:xfrm>
            <a:off x="2395086" y="1076255"/>
            <a:ext cx="1524536" cy="2124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25" b="1" spc="0" baseline="0">
                <a:ln/>
                <a:solidFill>
                  <a:srgbClr val="2563EB"/>
                </a:solidFill>
                <a:latin typeface="Arial"/>
                <a:cs typeface="Arial"/>
                <a:sym typeface="Arial"/>
                <a:rtl val="0"/>
              </a:rPr>
              <a:t>Operation nodes (actions)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565ED810-D06B-A6B9-87EC-CED1FC7CE43C}"/>
              </a:ext>
            </a:extLst>
          </p:cNvPr>
          <p:cNvSpPr txBox="1"/>
          <p:nvPr/>
        </p:nvSpPr>
        <p:spPr>
          <a:xfrm>
            <a:off x="2395086" y="1254487"/>
            <a:ext cx="753592" cy="1925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050" spc="0" baseline="0">
                <a:ln/>
                <a:solidFill>
                  <a:srgbClr val="0F172A"/>
                </a:solidFill>
                <a:latin typeface="Cambria Math"/>
                <a:ea typeface="Cambria Math"/>
                <a:sym typeface="Cambria Math"/>
                <a:rtl val="0"/>
              </a:rPr>
              <a:t>X_op ∈ Rⁿᵒ×⁶</a:t>
            </a:r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A2F1BC6F-2935-4109-250E-EC0B52BB10B3}"/>
              </a:ext>
            </a:extLst>
          </p:cNvPr>
          <p:cNvSpPr/>
          <p:nvPr/>
        </p:nvSpPr>
        <p:spPr>
          <a:xfrm>
            <a:off x="2515402" y="1617044"/>
            <a:ext cx="158816" cy="158816"/>
          </a:xfrm>
          <a:prstGeom prst="ellipse">
            <a:avLst/>
          </a:prstGeom>
          <a:solidFill>
            <a:srgbClr val="BFDBFE"/>
          </a:solidFill>
          <a:ln w="10101" cap="flat">
            <a:solidFill>
              <a:srgbClr val="2563EB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ACC2B3CD-7738-CD30-E947-C71BEBA5C9B7}"/>
              </a:ext>
            </a:extLst>
          </p:cNvPr>
          <p:cNvSpPr txBox="1"/>
          <p:nvPr/>
        </p:nvSpPr>
        <p:spPr>
          <a:xfrm>
            <a:off x="2461214" y="1769806"/>
            <a:ext cx="267191" cy="1761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788" i="1" spc="0" baseline="0">
                <a:ln/>
                <a:solidFill>
                  <a:srgbClr val="2563EB"/>
                </a:solidFill>
                <a:latin typeface="Arial"/>
                <a:cs typeface="Arial"/>
                <a:sym typeface="Arial"/>
                <a:rtl val="0"/>
              </a:rPr>
              <a:t>o1</a:t>
            </a:r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32E5AB17-ECC5-588C-419C-ACE0F5EC1A70}"/>
              </a:ext>
            </a:extLst>
          </p:cNvPr>
          <p:cNvSpPr/>
          <p:nvPr/>
        </p:nvSpPr>
        <p:spPr>
          <a:xfrm>
            <a:off x="2876349" y="1617044"/>
            <a:ext cx="158816" cy="158816"/>
          </a:xfrm>
          <a:prstGeom prst="ellipse">
            <a:avLst/>
          </a:prstGeom>
          <a:solidFill>
            <a:srgbClr val="BFDBFE"/>
          </a:solidFill>
          <a:ln w="10101" cap="flat">
            <a:solidFill>
              <a:srgbClr val="2563EB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ED0787EC-A81A-7EF0-3315-5B7AC553CC3B}"/>
              </a:ext>
            </a:extLst>
          </p:cNvPr>
          <p:cNvSpPr txBox="1"/>
          <p:nvPr/>
        </p:nvSpPr>
        <p:spPr>
          <a:xfrm>
            <a:off x="2822162" y="1769806"/>
            <a:ext cx="267191" cy="1761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788" i="1" spc="0" baseline="0">
                <a:ln/>
                <a:solidFill>
                  <a:srgbClr val="2563EB"/>
                </a:solidFill>
                <a:latin typeface="Arial"/>
                <a:cs typeface="Arial"/>
                <a:sym typeface="Arial"/>
                <a:rtl val="0"/>
              </a:rPr>
              <a:t>o2</a:t>
            </a:r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FF17477B-5B05-670C-B703-C600AA7DA3D6}"/>
              </a:ext>
            </a:extLst>
          </p:cNvPr>
          <p:cNvSpPr/>
          <p:nvPr/>
        </p:nvSpPr>
        <p:spPr>
          <a:xfrm>
            <a:off x="3273391" y="1617044"/>
            <a:ext cx="158816" cy="158816"/>
          </a:xfrm>
          <a:prstGeom prst="ellipse">
            <a:avLst/>
          </a:prstGeom>
          <a:solidFill>
            <a:srgbClr val="BFDBFE"/>
          </a:solidFill>
          <a:ln w="10101" cap="flat">
            <a:solidFill>
              <a:srgbClr val="2563EB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E68132A1-AE36-82F8-7F11-024A4DE44C0D}"/>
              </a:ext>
            </a:extLst>
          </p:cNvPr>
          <p:cNvSpPr txBox="1"/>
          <p:nvPr/>
        </p:nvSpPr>
        <p:spPr>
          <a:xfrm>
            <a:off x="3219204" y="1769806"/>
            <a:ext cx="267191" cy="1761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788" i="1" spc="0" baseline="0">
                <a:ln/>
                <a:solidFill>
                  <a:srgbClr val="2563EB"/>
                </a:solidFill>
                <a:latin typeface="Arial"/>
                <a:cs typeface="Arial"/>
                <a:sym typeface="Arial"/>
                <a:rtl val="0"/>
              </a:rPr>
              <a:t>o3</a:t>
            </a:r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C1629A06-D9BA-C9D5-BE6B-6D282FA079C1}"/>
              </a:ext>
            </a:extLst>
          </p:cNvPr>
          <p:cNvSpPr/>
          <p:nvPr/>
        </p:nvSpPr>
        <p:spPr>
          <a:xfrm>
            <a:off x="3670433" y="1617044"/>
            <a:ext cx="158816" cy="158816"/>
          </a:xfrm>
          <a:prstGeom prst="ellipse">
            <a:avLst/>
          </a:prstGeom>
          <a:solidFill>
            <a:srgbClr val="BFDBFE"/>
          </a:solidFill>
          <a:ln w="10101" cap="flat">
            <a:solidFill>
              <a:srgbClr val="2563EB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14ECEDB4-A9F5-62EE-7B54-B37952C12199}"/>
              </a:ext>
            </a:extLst>
          </p:cNvPr>
          <p:cNvSpPr txBox="1"/>
          <p:nvPr/>
        </p:nvSpPr>
        <p:spPr>
          <a:xfrm>
            <a:off x="3616246" y="1769806"/>
            <a:ext cx="267191" cy="1761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788" i="1" spc="0" baseline="0">
                <a:ln/>
                <a:solidFill>
                  <a:srgbClr val="2563EB"/>
                </a:solidFill>
                <a:latin typeface="Arial"/>
                <a:cs typeface="Arial"/>
                <a:sym typeface="Arial"/>
                <a:rtl val="0"/>
              </a:rPr>
              <a:t>o4</a:t>
            </a:r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1944AD92-2BC1-4409-744F-A45459BA7C37}"/>
              </a:ext>
            </a:extLst>
          </p:cNvPr>
          <p:cNvSpPr/>
          <p:nvPr/>
        </p:nvSpPr>
        <p:spPr>
          <a:xfrm>
            <a:off x="4031381" y="1617044"/>
            <a:ext cx="158816" cy="158816"/>
          </a:xfrm>
          <a:prstGeom prst="ellipse">
            <a:avLst/>
          </a:prstGeom>
          <a:solidFill>
            <a:srgbClr val="BFDBFE"/>
          </a:solidFill>
          <a:ln w="10101" cap="flat">
            <a:solidFill>
              <a:srgbClr val="2563EB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73D3AB6B-92E2-2614-CF0B-BF1DCD07ECDD}"/>
              </a:ext>
            </a:extLst>
          </p:cNvPr>
          <p:cNvSpPr txBox="1"/>
          <p:nvPr/>
        </p:nvSpPr>
        <p:spPr>
          <a:xfrm>
            <a:off x="3966820" y="1769806"/>
            <a:ext cx="287937" cy="1777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788" i="1" spc="0" baseline="0">
                <a:ln/>
                <a:solidFill>
                  <a:srgbClr val="2563EB"/>
                </a:solidFill>
                <a:latin typeface="Arial"/>
                <a:cs typeface="Arial"/>
                <a:sym typeface="Arial"/>
                <a:rtl val="0"/>
              </a:rPr>
              <a:t>o</a:t>
            </a:r>
            <a:r>
              <a:rPr lang="en-US" sz="825" i="1" spc="0" baseline="0">
                <a:ln/>
                <a:solidFill>
                  <a:srgbClr val="2563EB"/>
                </a:solidFill>
                <a:latin typeface="Cambria Math"/>
                <a:ea typeface="Cambria Math"/>
                <a:cs typeface="Arial"/>
                <a:sym typeface="Cambria Math"/>
                <a:rtl val="0"/>
              </a:rPr>
              <a:t>ₙ</a:t>
            </a:r>
            <a:r>
              <a:rPr lang="en-US" sz="788" i="1" spc="0" baseline="0">
                <a:ln/>
                <a:solidFill>
                  <a:srgbClr val="2563EB"/>
                </a:solidFill>
                <a:latin typeface="Arial"/>
                <a:ea typeface="Cambria Math"/>
                <a:cs typeface="Arial"/>
                <a:sym typeface="Arial"/>
                <a:rtl val="0"/>
              </a:rPr>
              <a:t>ₒ</a:t>
            </a:r>
          </a:p>
        </p:txBody>
      </p:sp>
      <p:sp>
        <p:nvSpPr>
          <p:cNvPr id="90" name="Freeform: Shape 89">
            <a:extLst>
              <a:ext uri="{FF2B5EF4-FFF2-40B4-BE49-F238E27FC236}">
                <a16:creationId xmlns:a16="http://schemas.microsoft.com/office/drawing/2014/main" id="{9CECF297-D6C9-AED4-EF38-6A534BF131A3}"/>
              </a:ext>
            </a:extLst>
          </p:cNvPr>
          <p:cNvSpPr/>
          <p:nvPr/>
        </p:nvSpPr>
        <p:spPr>
          <a:xfrm>
            <a:off x="2681437" y="1696452"/>
            <a:ext cx="180473" cy="7218"/>
          </a:xfrm>
          <a:custGeom>
            <a:avLst/>
            <a:gdLst>
              <a:gd name="csX0" fmla="*/ 0 w 180473"/>
              <a:gd name="csY0" fmla="*/ 0 h 7218"/>
              <a:gd name="csX1" fmla="*/ 180474 w 180473"/>
              <a:gd name="csY1" fmla="*/ 0 h 7218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80473" h="7218">
                <a:moveTo>
                  <a:pt x="0" y="0"/>
                </a:moveTo>
                <a:lnTo>
                  <a:pt x="180474" y="0"/>
                </a:lnTo>
              </a:path>
            </a:pathLst>
          </a:custGeom>
          <a:ln w="10823" cap="flat">
            <a:solidFill>
              <a:srgbClr val="2563EB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91" name="Freeform: Shape 90">
            <a:extLst>
              <a:ext uri="{FF2B5EF4-FFF2-40B4-BE49-F238E27FC236}">
                <a16:creationId xmlns:a16="http://schemas.microsoft.com/office/drawing/2014/main" id="{67C865A3-7FAA-2D0F-5D3D-8DF8ADAA6E61}"/>
              </a:ext>
            </a:extLst>
          </p:cNvPr>
          <p:cNvSpPr/>
          <p:nvPr/>
        </p:nvSpPr>
        <p:spPr>
          <a:xfrm>
            <a:off x="3042385" y="1696452"/>
            <a:ext cx="216568" cy="7218"/>
          </a:xfrm>
          <a:custGeom>
            <a:avLst/>
            <a:gdLst>
              <a:gd name="csX0" fmla="*/ 0 w 216568"/>
              <a:gd name="csY0" fmla="*/ 0 h 7218"/>
              <a:gd name="csX1" fmla="*/ 216568 w 216568"/>
              <a:gd name="csY1" fmla="*/ 0 h 7218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216568" h="7218">
                <a:moveTo>
                  <a:pt x="0" y="0"/>
                </a:moveTo>
                <a:lnTo>
                  <a:pt x="216568" y="0"/>
                </a:lnTo>
              </a:path>
            </a:pathLst>
          </a:custGeom>
          <a:ln w="10823" cap="flat">
            <a:solidFill>
              <a:srgbClr val="2563EB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92" name="Freeform: Shape 91">
            <a:extLst>
              <a:ext uri="{FF2B5EF4-FFF2-40B4-BE49-F238E27FC236}">
                <a16:creationId xmlns:a16="http://schemas.microsoft.com/office/drawing/2014/main" id="{2DC83C52-7A0A-E515-724F-F671AFA83BA8}"/>
              </a:ext>
            </a:extLst>
          </p:cNvPr>
          <p:cNvSpPr/>
          <p:nvPr/>
        </p:nvSpPr>
        <p:spPr>
          <a:xfrm>
            <a:off x="3439427" y="1696452"/>
            <a:ext cx="216568" cy="7218"/>
          </a:xfrm>
          <a:custGeom>
            <a:avLst/>
            <a:gdLst>
              <a:gd name="csX0" fmla="*/ 0 w 216568"/>
              <a:gd name="csY0" fmla="*/ 0 h 7218"/>
              <a:gd name="csX1" fmla="*/ 216568 w 216568"/>
              <a:gd name="csY1" fmla="*/ 0 h 7218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216568" h="7218">
                <a:moveTo>
                  <a:pt x="0" y="0"/>
                </a:moveTo>
                <a:lnTo>
                  <a:pt x="216568" y="0"/>
                </a:lnTo>
              </a:path>
            </a:pathLst>
          </a:custGeom>
          <a:ln w="10823" cap="flat">
            <a:solidFill>
              <a:srgbClr val="2563EB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93" name="Freeform: Shape 92">
            <a:extLst>
              <a:ext uri="{FF2B5EF4-FFF2-40B4-BE49-F238E27FC236}">
                <a16:creationId xmlns:a16="http://schemas.microsoft.com/office/drawing/2014/main" id="{1DB6A0B8-69D3-7362-7789-672BAE5CFE6D}"/>
              </a:ext>
            </a:extLst>
          </p:cNvPr>
          <p:cNvSpPr/>
          <p:nvPr/>
        </p:nvSpPr>
        <p:spPr>
          <a:xfrm>
            <a:off x="3836469" y="1696452"/>
            <a:ext cx="180473" cy="7218"/>
          </a:xfrm>
          <a:custGeom>
            <a:avLst/>
            <a:gdLst>
              <a:gd name="csX0" fmla="*/ 0 w 180473"/>
              <a:gd name="csY0" fmla="*/ 0 h 7218"/>
              <a:gd name="csX1" fmla="*/ 180474 w 180473"/>
              <a:gd name="csY1" fmla="*/ 0 h 7218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80473" h="7218">
                <a:moveTo>
                  <a:pt x="0" y="0"/>
                </a:moveTo>
                <a:lnTo>
                  <a:pt x="180474" y="0"/>
                </a:lnTo>
              </a:path>
            </a:pathLst>
          </a:custGeom>
          <a:ln w="10823" cap="flat">
            <a:solidFill>
              <a:srgbClr val="2563EB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94" name="Freeform: Shape 93">
            <a:extLst>
              <a:ext uri="{FF2B5EF4-FFF2-40B4-BE49-F238E27FC236}">
                <a16:creationId xmlns:a16="http://schemas.microsoft.com/office/drawing/2014/main" id="{1B043CEE-13A4-AB14-D913-90DFA52F3B59}"/>
              </a:ext>
            </a:extLst>
          </p:cNvPr>
          <p:cNvSpPr/>
          <p:nvPr/>
        </p:nvSpPr>
        <p:spPr>
          <a:xfrm>
            <a:off x="2955757" y="1451008"/>
            <a:ext cx="794084" cy="129941"/>
          </a:xfrm>
          <a:custGeom>
            <a:avLst/>
            <a:gdLst>
              <a:gd name="csX0" fmla="*/ 0 w 794084"/>
              <a:gd name="csY0" fmla="*/ 129941 h 129941"/>
              <a:gd name="csX1" fmla="*/ 794084 w 794084"/>
              <a:gd name="csY1" fmla="*/ 129941 h 129941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794084" h="129941">
                <a:moveTo>
                  <a:pt x="0" y="129941"/>
                </a:moveTo>
                <a:cubicBezTo>
                  <a:pt x="180474" y="-43314"/>
                  <a:pt x="577516" y="-43314"/>
                  <a:pt x="794084" y="129941"/>
                </a:cubicBezTo>
              </a:path>
            </a:pathLst>
          </a:custGeom>
          <a:noFill/>
          <a:ln w="8658" cap="flat">
            <a:solidFill>
              <a:srgbClr val="2563EB"/>
            </a:solidFill>
            <a:custDash>
              <a:ds d="300000" sp="225000"/>
            </a:custDash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88E04E2C-30AC-B642-D185-2AA9636245A8}"/>
              </a:ext>
            </a:extLst>
          </p:cNvPr>
          <p:cNvSpPr txBox="1"/>
          <p:nvPr/>
        </p:nvSpPr>
        <p:spPr>
          <a:xfrm>
            <a:off x="2506193" y="1873516"/>
            <a:ext cx="1693213" cy="1817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840" spc="0" baseline="0">
                <a:ln/>
                <a:solidFill>
                  <a:srgbClr val="475569"/>
                </a:solidFill>
                <a:latin typeface="Arial"/>
                <a:cs typeface="Arial"/>
                <a:sym typeface="Arial"/>
                <a:rtl val="0"/>
              </a:rPr>
              <a:t>One node per operation / candidate action</a:t>
            </a:r>
          </a:p>
        </p:txBody>
      </p:sp>
      <p:sp>
        <p:nvSpPr>
          <p:cNvPr id="96" name="Rectangle: Rounded Corners 95">
            <a:extLst>
              <a:ext uri="{FF2B5EF4-FFF2-40B4-BE49-F238E27FC236}">
                <a16:creationId xmlns:a16="http://schemas.microsoft.com/office/drawing/2014/main" id="{8C9076A9-92EA-6CBD-C2E7-E35D8FE2D1EC}"/>
              </a:ext>
            </a:extLst>
          </p:cNvPr>
          <p:cNvSpPr/>
          <p:nvPr/>
        </p:nvSpPr>
        <p:spPr>
          <a:xfrm>
            <a:off x="2378242" y="2201778"/>
            <a:ext cx="1949115" cy="902368"/>
          </a:xfrm>
          <a:prstGeom prst="roundRect">
            <a:avLst>
              <a:gd name="adj" fmla="val 6400"/>
            </a:avLst>
          </a:prstGeom>
          <a:solidFill>
            <a:srgbClr val="ECFDF5"/>
          </a:solidFill>
          <a:ln w="10823" cap="flat">
            <a:solidFill>
              <a:srgbClr val="059669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082B11DE-9C24-051C-9AED-676047ECEA3A}"/>
              </a:ext>
            </a:extLst>
          </p:cNvPr>
          <p:cNvSpPr txBox="1"/>
          <p:nvPr/>
        </p:nvSpPr>
        <p:spPr>
          <a:xfrm>
            <a:off x="2395086" y="2231286"/>
            <a:ext cx="1392353" cy="2124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25" b="1" spc="0" baseline="0">
                <a:ln/>
                <a:solidFill>
                  <a:srgbClr val="059669"/>
                </a:solidFill>
                <a:latin typeface="Arial"/>
                <a:cs typeface="Arial"/>
                <a:sym typeface="Arial"/>
                <a:rtl val="0"/>
              </a:rPr>
              <a:t>Vehicle nodes (context)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47FFE92D-737D-AA43-8F85-54DF203E742C}"/>
              </a:ext>
            </a:extLst>
          </p:cNvPr>
          <p:cNvSpPr txBox="1"/>
          <p:nvPr/>
        </p:nvSpPr>
        <p:spPr>
          <a:xfrm>
            <a:off x="2395086" y="2409518"/>
            <a:ext cx="796525" cy="1925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050" spc="0" baseline="0">
                <a:ln/>
                <a:solidFill>
                  <a:srgbClr val="0F172A"/>
                </a:solidFill>
                <a:latin typeface="Cambria Math"/>
                <a:ea typeface="Cambria Math"/>
                <a:sym typeface="Cambria Math"/>
                <a:rtl val="0"/>
              </a:rPr>
              <a:t>X_veh ∈ Rⁿᵛ×⁴</a:t>
            </a:r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6A534620-188A-AAE7-3B70-AE982C675EF0}"/>
              </a:ext>
            </a:extLst>
          </p:cNvPr>
          <p:cNvSpPr/>
          <p:nvPr/>
        </p:nvSpPr>
        <p:spPr>
          <a:xfrm>
            <a:off x="2551496" y="2735981"/>
            <a:ext cx="158816" cy="158816"/>
          </a:xfrm>
          <a:prstGeom prst="ellipse">
            <a:avLst/>
          </a:prstGeom>
          <a:solidFill>
            <a:srgbClr val="A7F3D0"/>
          </a:solidFill>
          <a:ln w="10101" cap="flat">
            <a:solidFill>
              <a:srgbClr val="059669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228BD659-02B4-48B9-7AAC-81909DAA144C}"/>
              </a:ext>
            </a:extLst>
          </p:cNvPr>
          <p:cNvSpPr txBox="1"/>
          <p:nvPr/>
        </p:nvSpPr>
        <p:spPr>
          <a:xfrm>
            <a:off x="2499437" y="2881524"/>
            <a:ext cx="262935" cy="1761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788" i="1" spc="0" baseline="0">
                <a:ln/>
                <a:solidFill>
                  <a:srgbClr val="059669"/>
                </a:solidFill>
                <a:latin typeface="Arial"/>
                <a:cs typeface="Arial"/>
                <a:sym typeface="Arial"/>
                <a:rtl val="0"/>
              </a:rPr>
              <a:t>v1</a:t>
            </a:r>
          </a:p>
        </p:txBody>
      </p:sp>
      <p:sp>
        <p:nvSpPr>
          <p:cNvPr id="101" name="Oval 100">
            <a:extLst>
              <a:ext uri="{FF2B5EF4-FFF2-40B4-BE49-F238E27FC236}">
                <a16:creationId xmlns:a16="http://schemas.microsoft.com/office/drawing/2014/main" id="{BFDBE9D3-D99F-C537-7CDA-0D77366917CC}"/>
              </a:ext>
            </a:extLst>
          </p:cNvPr>
          <p:cNvSpPr/>
          <p:nvPr/>
        </p:nvSpPr>
        <p:spPr>
          <a:xfrm>
            <a:off x="3056823" y="2735981"/>
            <a:ext cx="158816" cy="158816"/>
          </a:xfrm>
          <a:prstGeom prst="ellipse">
            <a:avLst/>
          </a:prstGeom>
          <a:solidFill>
            <a:srgbClr val="A7F3D0"/>
          </a:solidFill>
          <a:ln w="10101" cap="flat">
            <a:solidFill>
              <a:srgbClr val="059669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D118F586-6614-B3D7-3126-D29EAE3EF882}"/>
              </a:ext>
            </a:extLst>
          </p:cNvPr>
          <p:cNvSpPr txBox="1"/>
          <p:nvPr/>
        </p:nvSpPr>
        <p:spPr>
          <a:xfrm>
            <a:off x="3004763" y="2881524"/>
            <a:ext cx="262935" cy="1761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788" i="1" spc="0" baseline="0">
                <a:ln/>
                <a:solidFill>
                  <a:srgbClr val="059669"/>
                </a:solidFill>
                <a:latin typeface="Arial"/>
                <a:cs typeface="Arial"/>
                <a:sym typeface="Arial"/>
                <a:rtl val="0"/>
              </a:rPr>
              <a:t>v2</a:t>
            </a:r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7298D3B8-3963-1B9D-5D65-F8FB4E5297AD}"/>
              </a:ext>
            </a:extLst>
          </p:cNvPr>
          <p:cNvSpPr/>
          <p:nvPr/>
        </p:nvSpPr>
        <p:spPr>
          <a:xfrm>
            <a:off x="3562149" y="2735981"/>
            <a:ext cx="158816" cy="158816"/>
          </a:xfrm>
          <a:prstGeom prst="ellipse">
            <a:avLst/>
          </a:prstGeom>
          <a:solidFill>
            <a:srgbClr val="A7F3D0"/>
          </a:solidFill>
          <a:ln w="10101" cap="flat">
            <a:solidFill>
              <a:srgbClr val="059669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CB62D256-3FE9-CD39-8EB7-AD4201FD4BE2}"/>
              </a:ext>
            </a:extLst>
          </p:cNvPr>
          <p:cNvSpPr txBox="1"/>
          <p:nvPr/>
        </p:nvSpPr>
        <p:spPr>
          <a:xfrm>
            <a:off x="3510090" y="2881524"/>
            <a:ext cx="262935" cy="1761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788" i="1" spc="0" baseline="0">
                <a:ln/>
                <a:solidFill>
                  <a:srgbClr val="059669"/>
                </a:solidFill>
                <a:latin typeface="Arial"/>
                <a:cs typeface="Arial"/>
                <a:sym typeface="Arial"/>
                <a:rtl val="0"/>
              </a:rPr>
              <a:t>v3</a:t>
            </a:r>
          </a:p>
        </p:txBody>
      </p:sp>
      <p:sp>
        <p:nvSpPr>
          <p:cNvPr id="105" name="Oval 104">
            <a:extLst>
              <a:ext uri="{FF2B5EF4-FFF2-40B4-BE49-F238E27FC236}">
                <a16:creationId xmlns:a16="http://schemas.microsoft.com/office/drawing/2014/main" id="{FA9E0F38-317F-28D2-7DDA-37D9C3DBBEBC}"/>
              </a:ext>
            </a:extLst>
          </p:cNvPr>
          <p:cNvSpPr/>
          <p:nvPr/>
        </p:nvSpPr>
        <p:spPr>
          <a:xfrm>
            <a:off x="4031381" y="2735981"/>
            <a:ext cx="158816" cy="158816"/>
          </a:xfrm>
          <a:prstGeom prst="ellipse">
            <a:avLst/>
          </a:prstGeom>
          <a:solidFill>
            <a:srgbClr val="A7F3D0"/>
          </a:solidFill>
          <a:ln w="10101" cap="flat">
            <a:solidFill>
              <a:srgbClr val="059669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6EE33AEF-499E-C0C5-A35F-5A6F91D38727}"/>
              </a:ext>
            </a:extLst>
          </p:cNvPr>
          <p:cNvSpPr txBox="1"/>
          <p:nvPr/>
        </p:nvSpPr>
        <p:spPr>
          <a:xfrm>
            <a:off x="3970355" y="2881524"/>
            <a:ext cx="280868" cy="1777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788" i="1" spc="0" baseline="0">
                <a:ln/>
                <a:solidFill>
                  <a:srgbClr val="059669"/>
                </a:solidFill>
                <a:latin typeface="Arial"/>
                <a:cs typeface="Arial"/>
                <a:sym typeface="Arial"/>
                <a:rtl val="0"/>
              </a:rPr>
              <a:t>v</a:t>
            </a:r>
            <a:r>
              <a:rPr lang="en-US" sz="825" i="1" spc="0" baseline="0">
                <a:ln/>
                <a:solidFill>
                  <a:srgbClr val="059669"/>
                </a:solidFill>
                <a:latin typeface="Cambria Math"/>
                <a:ea typeface="Cambria Math"/>
                <a:cs typeface="Arial"/>
                <a:sym typeface="Cambria Math"/>
                <a:rtl val="0"/>
              </a:rPr>
              <a:t>ₙ</a:t>
            </a:r>
            <a:r>
              <a:rPr lang="en-US" sz="788" i="1" spc="0" baseline="0">
                <a:ln/>
                <a:solidFill>
                  <a:srgbClr val="059669"/>
                </a:solidFill>
                <a:latin typeface="Arial"/>
                <a:ea typeface="Cambria Math"/>
                <a:cs typeface="Arial"/>
                <a:sym typeface="Arial"/>
                <a:rtl val="0"/>
              </a:rPr>
              <a:t>ᵥ</a:t>
            </a:r>
          </a:p>
        </p:txBody>
      </p:sp>
      <p:sp>
        <p:nvSpPr>
          <p:cNvPr id="107" name="Freeform: Shape 106">
            <a:extLst>
              <a:ext uri="{FF2B5EF4-FFF2-40B4-BE49-F238E27FC236}">
                <a16:creationId xmlns:a16="http://schemas.microsoft.com/office/drawing/2014/main" id="{E26149DC-64FF-C577-06BB-BF7609A45CD7}"/>
              </a:ext>
            </a:extLst>
          </p:cNvPr>
          <p:cNvSpPr/>
          <p:nvPr/>
        </p:nvSpPr>
        <p:spPr>
          <a:xfrm>
            <a:off x="2717532" y="2815389"/>
            <a:ext cx="324852" cy="7218"/>
          </a:xfrm>
          <a:custGeom>
            <a:avLst/>
            <a:gdLst>
              <a:gd name="csX0" fmla="*/ 0 w 324852"/>
              <a:gd name="csY0" fmla="*/ 0 h 7218"/>
              <a:gd name="csX1" fmla="*/ 324853 w 324852"/>
              <a:gd name="csY1" fmla="*/ 0 h 7218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24852" h="7218">
                <a:moveTo>
                  <a:pt x="0" y="0"/>
                </a:moveTo>
                <a:lnTo>
                  <a:pt x="324853" y="0"/>
                </a:lnTo>
              </a:path>
            </a:pathLst>
          </a:custGeom>
          <a:ln w="9380" cap="flat">
            <a:solidFill>
              <a:srgbClr val="059669"/>
            </a:solidFill>
            <a:custDash>
              <a:ds d="300000" sp="225000"/>
            </a:custDash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08" name="Freeform: Shape 107">
            <a:extLst>
              <a:ext uri="{FF2B5EF4-FFF2-40B4-BE49-F238E27FC236}">
                <a16:creationId xmlns:a16="http://schemas.microsoft.com/office/drawing/2014/main" id="{731664C6-12BD-E6B1-7506-426E54B82BBA}"/>
              </a:ext>
            </a:extLst>
          </p:cNvPr>
          <p:cNvSpPr/>
          <p:nvPr/>
        </p:nvSpPr>
        <p:spPr>
          <a:xfrm>
            <a:off x="3222858" y="2815389"/>
            <a:ext cx="324852" cy="7218"/>
          </a:xfrm>
          <a:custGeom>
            <a:avLst/>
            <a:gdLst>
              <a:gd name="csX0" fmla="*/ 0 w 324852"/>
              <a:gd name="csY0" fmla="*/ 0 h 7218"/>
              <a:gd name="csX1" fmla="*/ 324853 w 324852"/>
              <a:gd name="csY1" fmla="*/ 0 h 7218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24852" h="7218">
                <a:moveTo>
                  <a:pt x="0" y="0"/>
                </a:moveTo>
                <a:lnTo>
                  <a:pt x="324853" y="0"/>
                </a:lnTo>
              </a:path>
            </a:pathLst>
          </a:custGeom>
          <a:ln w="9380" cap="flat">
            <a:solidFill>
              <a:srgbClr val="059669"/>
            </a:solidFill>
            <a:custDash>
              <a:ds d="300000" sp="225000"/>
            </a:custDash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09" name="Freeform: Shape 108">
            <a:extLst>
              <a:ext uri="{FF2B5EF4-FFF2-40B4-BE49-F238E27FC236}">
                <a16:creationId xmlns:a16="http://schemas.microsoft.com/office/drawing/2014/main" id="{36E97152-5C1A-1C42-87E6-5BD9B7950FA4}"/>
              </a:ext>
            </a:extLst>
          </p:cNvPr>
          <p:cNvSpPr/>
          <p:nvPr/>
        </p:nvSpPr>
        <p:spPr>
          <a:xfrm>
            <a:off x="3728185" y="2815389"/>
            <a:ext cx="288757" cy="7218"/>
          </a:xfrm>
          <a:custGeom>
            <a:avLst/>
            <a:gdLst>
              <a:gd name="csX0" fmla="*/ 0 w 288757"/>
              <a:gd name="csY0" fmla="*/ 0 h 7218"/>
              <a:gd name="csX1" fmla="*/ 288758 w 288757"/>
              <a:gd name="csY1" fmla="*/ 0 h 7218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288757" h="7218">
                <a:moveTo>
                  <a:pt x="0" y="0"/>
                </a:moveTo>
                <a:lnTo>
                  <a:pt x="288758" y="0"/>
                </a:lnTo>
              </a:path>
            </a:pathLst>
          </a:custGeom>
          <a:ln w="9380" cap="flat">
            <a:solidFill>
              <a:srgbClr val="059669"/>
            </a:solidFill>
            <a:custDash>
              <a:ds d="300000" sp="225000"/>
            </a:custDash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10" name="Freeform: Shape 109">
            <a:extLst>
              <a:ext uri="{FF2B5EF4-FFF2-40B4-BE49-F238E27FC236}">
                <a16:creationId xmlns:a16="http://schemas.microsoft.com/office/drawing/2014/main" id="{77B496A0-6BB8-5AB7-3B83-833712A93BE7}"/>
              </a:ext>
            </a:extLst>
          </p:cNvPr>
          <p:cNvSpPr/>
          <p:nvPr/>
        </p:nvSpPr>
        <p:spPr>
          <a:xfrm>
            <a:off x="2594810" y="1783080"/>
            <a:ext cx="36094" cy="945682"/>
          </a:xfrm>
          <a:custGeom>
            <a:avLst/>
            <a:gdLst>
              <a:gd name="csX0" fmla="*/ 36095 w 36094"/>
              <a:gd name="csY0" fmla="*/ 945682 h 945682"/>
              <a:gd name="csX1" fmla="*/ 0 w 36094"/>
              <a:gd name="csY1" fmla="*/ 0 h 945682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6094" h="945682">
                <a:moveTo>
                  <a:pt x="36095" y="945682"/>
                </a:moveTo>
                <a:lnTo>
                  <a:pt x="0" y="0"/>
                </a:lnTo>
              </a:path>
            </a:pathLst>
          </a:custGeom>
          <a:ln w="7937" cap="flat">
            <a:solidFill>
              <a:srgbClr val="059669"/>
            </a:solidFill>
            <a:custDash>
              <a:ds d="300000" sp="225000"/>
            </a:custDash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11" name="Freeform: Shape 110">
            <a:extLst>
              <a:ext uri="{FF2B5EF4-FFF2-40B4-BE49-F238E27FC236}">
                <a16:creationId xmlns:a16="http://schemas.microsoft.com/office/drawing/2014/main" id="{56C24486-DB75-0EAE-991B-3D5088DDDDF5}"/>
              </a:ext>
            </a:extLst>
          </p:cNvPr>
          <p:cNvSpPr/>
          <p:nvPr/>
        </p:nvSpPr>
        <p:spPr>
          <a:xfrm>
            <a:off x="2955757" y="1783080"/>
            <a:ext cx="180473" cy="945682"/>
          </a:xfrm>
          <a:custGeom>
            <a:avLst/>
            <a:gdLst>
              <a:gd name="csX0" fmla="*/ 180474 w 180473"/>
              <a:gd name="csY0" fmla="*/ 945682 h 945682"/>
              <a:gd name="csX1" fmla="*/ 0 w 180473"/>
              <a:gd name="csY1" fmla="*/ 0 h 945682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80473" h="945682">
                <a:moveTo>
                  <a:pt x="180474" y="945682"/>
                </a:moveTo>
                <a:lnTo>
                  <a:pt x="0" y="0"/>
                </a:lnTo>
              </a:path>
            </a:pathLst>
          </a:custGeom>
          <a:ln w="7937" cap="flat">
            <a:solidFill>
              <a:srgbClr val="059669"/>
            </a:solidFill>
            <a:custDash>
              <a:ds d="300000" sp="225000"/>
            </a:custDash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12" name="Freeform: Shape 111">
            <a:extLst>
              <a:ext uri="{FF2B5EF4-FFF2-40B4-BE49-F238E27FC236}">
                <a16:creationId xmlns:a16="http://schemas.microsoft.com/office/drawing/2014/main" id="{EA5AAC74-2E13-AEDA-C882-2EE25686E87A}"/>
              </a:ext>
            </a:extLst>
          </p:cNvPr>
          <p:cNvSpPr/>
          <p:nvPr/>
        </p:nvSpPr>
        <p:spPr>
          <a:xfrm>
            <a:off x="3641557" y="1783080"/>
            <a:ext cx="108284" cy="945682"/>
          </a:xfrm>
          <a:custGeom>
            <a:avLst/>
            <a:gdLst>
              <a:gd name="csX0" fmla="*/ 0 w 108284"/>
              <a:gd name="csY0" fmla="*/ 945682 h 945682"/>
              <a:gd name="csX1" fmla="*/ 108284 w 108284"/>
              <a:gd name="csY1" fmla="*/ 0 h 945682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08284" h="945682">
                <a:moveTo>
                  <a:pt x="0" y="945682"/>
                </a:moveTo>
                <a:lnTo>
                  <a:pt x="108284" y="0"/>
                </a:lnTo>
              </a:path>
            </a:pathLst>
          </a:custGeom>
          <a:ln w="7937" cap="flat">
            <a:solidFill>
              <a:srgbClr val="059669"/>
            </a:solidFill>
            <a:custDash>
              <a:ds d="300000" sp="225000"/>
            </a:custDash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13" name="Freeform: Shape 112">
            <a:extLst>
              <a:ext uri="{FF2B5EF4-FFF2-40B4-BE49-F238E27FC236}">
                <a16:creationId xmlns:a16="http://schemas.microsoft.com/office/drawing/2014/main" id="{85D92881-B4B8-1620-9754-0FA031AB9AA6}"/>
              </a:ext>
            </a:extLst>
          </p:cNvPr>
          <p:cNvSpPr/>
          <p:nvPr/>
        </p:nvSpPr>
        <p:spPr>
          <a:xfrm>
            <a:off x="4110789" y="1783080"/>
            <a:ext cx="7218" cy="945682"/>
          </a:xfrm>
          <a:custGeom>
            <a:avLst/>
            <a:gdLst>
              <a:gd name="csX0" fmla="*/ 0 w 7218"/>
              <a:gd name="csY0" fmla="*/ 945682 h 945682"/>
              <a:gd name="csX1" fmla="*/ 0 w 7218"/>
              <a:gd name="csY1" fmla="*/ 0 h 945682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7218" h="945682">
                <a:moveTo>
                  <a:pt x="0" y="945682"/>
                </a:moveTo>
                <a:lnTo>
                  <a:pt x="0" y="0"/>
                </a:lnTo>
              </a:path>
            </a:pathLst>
          </a:custGeom>
          <a:ln w="7937" cap="flat">
            <a:solidFill>
              <a:srgbClr val="059669"/>
            </a:solidFill>
            <a:custDash>
              <a:ds d="300000" sp="225000"/>
            </a:custDash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14" name="Rectangle: Rounded Corners 113">
            <a:extLst>
              <a:ext uri="{FF2B5EF4-FFF2-40B4-BE49-F238E27FC236}">
                <a16:creationId xmlns:a16="http://schemas.microsoft.com/office/drawing/2014/main" id="{A059E15A-6D28-5324-D66C-1C5EA7113C60}"/>
              </a:ext>
            </a:extLst>
          </p:cNvPr>
          <p:cNvSpPr/>
          <p:nvPr/>
        </p:nvSpPr>
        <p:spPr>
          <a:xfrm>
            <a:off x="2378242" y="3212431"/>
            <a:ext cx="1949115" cy="830178"/>
          </a:xfrm>
          <a:prstGeom prst="roundRect">
            <a:avLst>
              <a:gd name="adj" fmla="val 6956"/>
            </a:avLst>
          </a:prstGeom>
          <a:solidFill>
            <a:srgbClr val="FFF7ED"/>
          </a:solidFill>
          <a:ln w="10823" cap="flat">
            <a:solidFill>
              <a:srgbClr val="D97706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2B770D05-F1C1-CD6A-868A-69621DA8E5DA}"/>
              </a:ext>
            </a:extLst>
          </p:cNvPr>
          <p:cNvSpPr txBox="1"/>
          <p:nvPr/>
        </p:nvSpPr>
        <p:spPr>
          <a:xfrm>
            <a:off x="2395086" y="3241939"/>
            <a:ext cx="1277777" cy="2124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25" b="1" spc="0" baseline="0">
                <a:ln/>
                <a:solidFill>
                  <a:srgbClr val="D97706"/>
                </a:solidFill>
                <a:latin typeface="Arial"/>
                <a:cs typeface="Arial"/>
                <a:sym typeface="Arial"/>
                <a:rtl val="0"/>
              </a:rPr>
              <a:t>Zone nodes (context)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6F0D63F4-A3E0-FF75-E936-9C45F409B846}"/>
              </a:ext>
            </a:extLst>
          </p:cNvPr>
          <p:cNvSpPr txBox="1"/>
          <p:nvPr/>
        </p:nvSpPr>
        <p:spPr>
          <a:xfrm>
            <a:off x="2395086" y="3420171"/>
            <a:ext cx="843653" cy="1925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050" spc="0" baseline="0">
                <a:ln/>
                <a:solidFill>
                  <a:srgbClr val="0F172A"/>
                </a:solidFill>
                <a:latin typeface="Cambria Math"/>
                <a:ea typeface="Cambria Math"/>
                <a:sym typeface="Cambria Math"/>
                <a:rtl val="0"/>
              </a:rPr>
              <a:t>X_zone ∈ Rⁿᶻ×⁵</a:t>
            </a:r>
          </a:p>
        </p:txBody>
      </p:sp>
      <p:sp>
        <p:nvSpPr>
          <p:cNvPr id="117" name="Oval 116">
            <a:extLst>
              <a:ext uri="{FF2B5EF4-FFF2-40B4-BE49-F238E27FC236}">
                <a16:creationId xmlns:a16="http://schemas.microsoft.com/office/drawing/2014/main" id="{8A4AB9F0-F473-5596-315F-A9B58FC48372}"/>
              </a:ext>
            </a:extLst>
          </p:cNvPr>
          <p:cNvSpPr/>
          <p:nvPr/>
        </p:nvSpPr>
        <p:spPr>
          <a:xfrm>
            <a:off x="2587591" y="3710538"/>
            <a:ext cx="158816" cy="158816"/>
          </a:xfrm>
          <a:prstGeom prst="ellipse">
            <a:avLst/>
          </a:prstGeom>
          <a:solidFill>
            <a:srgbClr val="FED7AA"/>
          </a:solidFill>
          <a:ln w="10101" cap="flat">
            <a:solidFill>
              <a:srgbClr val="D97706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0CCF503F-54E6-4E97-D5C3-6A822D351ACB}"/>
              </a:ext>
            </a:extLst>
          </p:cNvPr>
          <p:cNvSpPr txBox="1"/>
          <p:nvPr/>
        </p:nvSpPr>
        <p:spPr>
          <a:xfrm>
            <a:off x="2535532" y="3856082"/>
            <a:ext cx="262935" cy="1761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788" i="1" spc="0" baseline="0">
                <a:ln/>
                <a:solidFill>
                  <a:srgbClr val="D97706"/>
                </a:solidFill>
                <a:latin typeface="Arial"/>
                <a:cs typeface="Arial"/>
                <a:sym typeface="Arial"/>
                <a:rtl val="0"/>
              </a:rPr>
              <a:t>z1</a:t>
            </a:r>
          </a:p>
        </p:txBody>
      </p:sp>
      <p:sp>
        <p:nvSpPr>
          <p:cNvPr id="119" name="Oval 118">
            <a:extLst>
              <a:ext uri="{FF2B5EF4-FFF2-40B4-BE49-F238E27FC236}">
                <a16:creationId xmlns:a16="http://schemas.microsoft.com/office/drawing/2014/main" id="{4F3ECF9A-B814-3645-455C-5A599DA2FB43}"/>
              </a:ext>
            </a:extLst>
          </p:cNvPr>
          <p:cNvSpPr/>
          <p:nvPr/>
        </p:nvSpPr>
        <p:spPr>
          <a:xfrm>
            <a:off x="3165107" y="3710538"/>
            <a:ext cx="158816" cy="158816"/>
          </a:xfrm>
          <a:prstGeom prst="ellipse">
            <a:avLst/>
          </a:prstGeom>
          <a:solidFill>
            <a:srgbClr val="FED7AA"/>
          </a:solidFill>
          <a:ln w="10101" cap="flat">
            <a:solidFill>
              <a:srgbClr val="D97706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2CE40BB8-321A-60F9-75FE-2BD73A4B619C}"/>
              </a:ext>
            </a:extLst>
          </p:cNvPr>
          <p:cNvSpPr txBox="1"/>
          <p:nvPr/>
        </p:nvSpPr>
        <p:spPr>
          <a:xfrm>
            <a:off x="3113048" y="3856082"/>
            <a:ext cx="262935" cy="1761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788" i="1" spc="0" baseline="0">
                <a:ln/>
                <a:solidFill>
                  <a:srgbClr val="D97706"/>
                </a:solidFill>
                <a:latin typeface="Arial"/>
                <a:cs typeface="Arial"/>
                <a:sym typeface="Arial"/>
                <a:rtl val="0"/>
              </a:rPr>
              <a:t>z2</a:t>
            </a:r>
          </a:p>
        </p:txBody>
      </p:sp>
      <p:sp>
        <p:nvSpPr>
          <p:cNvPr id="121" name="Oval 120">
            <a:extLst>
              <a:ext uri="{FF2B5EF4-FFF2-40B4-BE49-F238E27FC236}">
                <a16:creationId xmlns:a16="http://schemas.microsoft.com/office/drawing/2014/main" id="{D5251B84-C58D-43FA-B982-3C375C0961E2}"/>
              </a:ext>
            </a:extLst>
          </p:cNvPr>
          <p:cNvSpPr/>
          <p:nvPr/>
        </p:nvSpPr>
        <p:spPr>
          <a:xfrm>
            <a:off x="3742623" y="3710538"/>
            <a:ext cx="158816" cy="158816"/>
          </a:xfrm>
          <a:prstGeom prst="ellipse">
            <a:avLst/>
          </a:prstGeom>
          <a:solidFill>
            <a:srgbClr val="FED7AA"/>
          </a:solidFill>
          <a:ln w="10101" cap="flat">
            <a:solidFill>
              <a:srgbClr val="D97706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60C9BF74-424B-4A06-4D9F-25CD15CF5310}"/>
              </a:ext>
            </a:extLst>
          </p:cNvPr>
          <p:cNvSpPr txBox="1"/>
          <p:nvPr/>
        </p:nvSpPr>
        <p:spPr>
          <a:xfrm>
            <a:off x="3673023" y="3856082"/>
            <a:ext cx="298016" cy="1777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788" i="1" spc="0" baseline="0">
                <a:ln/>
                <a:solidFill>
                  <a:srgbClr val="D97706"/>
                </a:solidFill>
                <a:latin typeface="Arial"/>
                <a:cs typeface="Arial"/>
                <a:sym typeface="Arial"/>
                <a:rtl val="0"/>
              </a:rPr>
              <a:t>z</a:t>
            </a:r>
            <a:r>
              <a:rPr lang="en-US" sz="825" i="1" spc="0" baseline="0">
                <a:ln/>
                <a:solidFill>
                  <a:srgbClr val="D97706"/>
                </a:solidFill>
                <a:latin typeface="Cambria Math"/>
                <a:ea typeface="Cambria Math"/>
                <a:cs typeface="Arial"/>
                <a:sym typeface="Cambria Math"/>
                <a:rtl val="0"/>
              </a:rPr>
              <a:t>ₙ𝓏</a:t>
            </a:r>
          </a:p>
        </p:txBody>
      </p:sp>
      <p:sp>
        <p:nvSpPr>
          <p:cNvPr id="123" name="Freeform: Shape 122">
            <a:extLst>
              <a:ext uri="{FF2B5EF4-FFF2-40B4-BE49-F238E27FC236}">
                <a16:creationId xmlns:a16="http://schemas.microsoft.com/office/drawing/2014/main" id="{D1FE70EE-10D9-D992-16E8-222295205FD8}"/>
              </a:ext>
            </a:extLst>
          </p:cNvPr>
          <p:cNvSpPr/>
          <p:nvPr/>
        </p:nvSpPr>
        <p:spPr>
          <a:xfrm>
            <a:off x="2666999" y="1783080"/>
            <a:ext cx="288757" cy="1920240"/>
          </a:xfrm>
          <a:custGeom>
            <a:avLst/>
            <a:gdLst>
              <a:gd name="csX0" fmla="*/ 0 w 288757"/>
              <a:gd name="csY0" fmla="*/ 1920240 h 1920240"/>
              <a:gd name="csX1" fmla="*/ 288758 w 288757"/>
              <a:gd name="csY1" fmla="*/ 0 h 192024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288757" h="1920240">
                <a:moveTo>
                  <a:pt x="0" y="1920240"/>
                </a:moveTo>
                <a:lnTo>
                  <a:pt x="288758" y="0"/>
                </a:lnTo>
              </a:path>
            </a:pathLst>
          </a:custGeom>
          <a:ln w="7937" cap="flat">
            <a:solidFill>
              <a:srgbClr val="D97706"/>
            </a:solidFill>
            <a:custDash>
              <a:ds d="300000" sp="225000"/>
            </a:custDash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24" name="Freeform: Shape 123">
            <a:extLst>
              <a:ext uri="{FF2B5EF4-FFF2-40B4-BE49-F238E27FC236}">
                <a16:creationId xmlns:a16="http://schemas.microsoft.com/office/drawing/2014/main" id="{D7F806BB-17FB-3BC9-56E8-D1BE9192C5E9}"/>
              </a:ext>
            </a:extLst>
          </p:cNvPr>
          <p:cNvSpPr/>
          <p:nvPr/>
        </p:nvSpPr>
        <p:spPr>
          <a:xfrm>
            <a:off x="3244515" y="1783080"/>
            <a:ext cx="108284" cy="1920240"/>
          </a:xfrm>
          <a:custGeom>
            <a:avLst/>
            <a:gdLst>
              <a:gd name="csX0" fmla="*/ 0 w 108284"/>
              <a:gd name="csY0" fmla="*/ 1920240 h 1920240"/>
              <a:gd name="csX1" fmla="*/ 108284 w 108284"/>
              <a:gd name="csY1" fmla="*/ 0 h 192024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08284" h="1920240">
                <a:moveTo>
                  <a:pt x="0" y="1920240"/>
                </a:moveTo>
                <a:lnTo>
                  <a:pt x="108284" y="0"/>
                </a:lnTo>
              </a:path>
            </a:pathLst>
          </a:custGeom>
          <a:ln w="7937" cap="flat">
            <a:solidFill>
              <a:srgbClr val="D97706"/>
            </a:solidFill>
            <a:custDash>
              <a:ds d="300000" sp="225000"/>
            </a:custDash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25" name="Freeform: Shape 124">
            <a:extLst>
              <a:ext uri="{FF2B5EF4-FFF2-40B4-BE49-F238E27FC236}">
                <a16:creationId xmlns:a16="http://schemas.microsoft.com/office/drawing/2014/main" id="{36F1E1C1-8680-3F4F-C841-EB75926CF3E3}"/>
              </a:ext>
            </a:extLst>
          </p:cNvPr>
          <p:cNvSpPr/>
          <p:nvPr/>
        </p:nvSpPr>
        <p:spPr>
          <a:xfrm>
            <a:off x="3749842" y="1783080"/>
            <a:ext cx="72189" cy="1920240"/>
          </a:xfrm>
          <a:custGeom>
            <a:avLst/>
            <a:gdLst>
              <a:gd name="csX0" fmla="*/ 72189 w 72189"/>
              <a:gd name="csY0" fmla="*/ 1920240 h 1920240"/>
              <a:gd name="csX1" fmla="*/ 0 w 72189"/>
              <a:gd name="csY1" fmla="*/ 0 h 192024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72189" h="1920240">
                <a:moveTo>
                  <a:pt x="72189" y="1920240"/>
                </a:moveTo>
                <a:lnTo>
                  <a:pt x="0" y="0"/>
                </a:lnTo>
              </a:path>
            </a:pathLst>
          </a:custGeom>
          <a:ln w="7937" cap="flat">
            <a:solidFill>
              <a:srgbClr val="D97706"/>
            </a:solidFill>
            <a:custDash>
              <a:ds d="300000" sp="225000"/>
            </a:custDash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26" name="Rectangle: Rounded Corners 125">
            <a:extLst>
              <a:ext uri="{FF2B5EF4-FFF2-40B4-BE49-F238E27FC236}">
                <a16:creationId xmlns:a16="http://schemas.microsoft.com/office/drawing/2014/main" id="{48255E9B-E34B-EC18-82B4-C941B3BA6678}"/>
              </a:ext>
            </a:extLst>
          </p:cNvPr>
          <p:cNvSpPr/>
          <p:nvPr/>
        </p:nvSpPr>
        <p:spPr>
          <a:xfrm>
            <a:off x="2378242" y="4186989"/>
            <a:ext cx="1949115" cy="1299410"/>
          </a:xfrm>
          <a:prstGeom prst="roundRect">
            <a:avLst>
              <a:gd name="adj" fmla="val 3333"/>
            </a:avLst>
          </a:prstGeom>
          <a:solidFill>
            <a:srgbClr val="F1F5F9"/>
          </a:solidFill>
          <a:ln w="8658" cap="flat">
            <a:solidFill>
              <a:srgbClr val="CBD5E1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6E4A779A-B899-C838-BBDC-B7C4C0DBD142}"/>
              </a:ext>
            </a:extLst>
          </p:cNvPr>
          <p:cNvSpPr txBox="1"/>
          <p:nvPr/>
        </p:nvSpPr>
        <p:spPr>
          <a:xfrm>
            <a:off x="2748641" y="4215129"/>
            <a:ext cx="1208315" cy="1962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975" b="1" spc="0" baseline="0">
                <a:ln/>
                <a:solidFill>
                  <a:srgbClr val="0F172A"/>
                </a:solidFill>
                <a:latin typeface="Arial"/>
                <a:cs typeface="Arial"/>
                <a:sym typeface="Arial"/>
                <a:rtl val="0"/>
              </a:rPr>
              <a:t>Typed Relation Legend</a:t>
            </a:r>
          </a:p>
        </p:txBody>
      </p:sp>
      <p:sp>
        <p:nvSpPr>
          <p:cNvPr id="128" name="Freeform: Shape 127">
            <a:extLst>
              <a:ext uri="{FF2B5EF4-FFF2-40B4-BE49-F238E27FC236}">
                <a16:creationId xmlns:a16="http://schemas.microsoft.com/office/drawing/2014/main" id="{2E1275F3-10E1-B3B3-AEDE-BC866EA9215B}"/>
              </a:ext>
            </a:extLst>
          </p:cNvPr>
          <p:cNvSpPr/>
          <p:nvPr/>
        </p:nvSpPr>
        <p:spPr>
          <a:xfrm>
            <a:off x="2500964" y="4482966"/>
            <a:ext cx="274320" cy="7218"/>
          </a:xfrm>
          <a:custGeom>
            <a:avLst/>
            <a:gdLst>
              <a:gd name="csX0" fmla="*/ 0 w 274320"/>
              <a:gd name="csY0" fmla="*/ 0 h 7218"/>
              <a:gd name="csX1" fmla="*/ 274320 w 274320"/>
              <a:gd name="csY1" fmla="*/ 0 h 7218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274320" h="7218">
                <a:moveTo>
                  <a:pt x="0" y="0"/>
                </a:moveTo>
                <a:lnTo>
                  <a:pt x="274320" y="0"/>
                </a:lnTo>
              </a:path>
            </a:pathLst>
          </a:custGeom>
          <a:ln w="10101" cap="flat">
            <a:solidFill>
              <a:srgbClr val="2563EB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48B90A70-AF59-41C1-CB7C-0B152A79482E}"/>
              </a:ext>
            </a:extLst>
          </p:cNvPr>
          <p:cNvSpPr txBox="1"/>
          <p:nvPr/>
        </p:nvSpPr>
        <p:spPr>
          <a:xfrm>
            <a:off x="2756033" y="4392275"/>
            <a:ext cx="1166947" cy="1825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848" spc="0" baseline="0">
                <a:ln/>
                <a:solidFill>
                  <a:srgbClr val="0F172A"/>
                </a:solidFill>
                <a:latin typeface="Arial"/>
                <a:cs typeface="Arial"/>
                <a:sym typeface="Arial"/>
                <a:rtl val="0"/>
              </a:rPr>
              <a:t>seq: operation → operation</a:t>
            </a:r>
          </a:p>
        </p:txBody>
      </p:sp>
      <p:sp>
        <p:nvSpPr>
          <p:cNvPr id="130" name="Freeform: Shape 129">
            <a:extLst>
              <a:ext uri="{FF2B5EF4-FFF2-40B4-BE49-F238E27FC236}">
                <a16:creationId xmlns:a16="http://schemas.microsoft.com/office/drawing/2014/main" id="{4C2D3118-A97E-7089-AF59-84731E8F3642}"/>
              </a:ext>
            </a:extLst>
          </p:cNvPr>
          <p:cNvSpPr/>
          <p:nvPr/>
        </p:nvSpPr>
        <p:spPr>
          <a:xfrm>
            <a:off x="2500964" y="4663440"/>
            <a:ext cx="274320" cy="7218"/>
          </a:xfrm>
          <a:custGeom>
            <a:avLst/>
            <a:gdLst>
              <a:gd name="csX0" fmla="*/ 0 w 274320"/>
              <a:gd name="csY0" fmla="*/ 0 h 7218"/>
              <a:gd name="csX1" fmla="*/ 274320 w 274320"/>
              <a:gd name="csY1" fmla="*/ 0 h 7218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274320" h="7218">
                <a:moveTo>
                  <a:pt x="0" y="0"/>
                </a:moveTo>
                <a:lnTo>
                  <a:pt x="274320" y="0"/>
                </a:lnTo>
              </a:path>
            </a:pathLst>
          </a:custGeom>
          <a:ln w="10101" cap="flat">
            <a:solidFill>
              <a:srgbClr val="2563EB"/>
            </a:solidFill>
            <a:custDash>
              <a:ds d="375000" sp="225000"/>
            </a:custDash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1DAFA46C-D4EF-A24E-C847-5C741B5A3831}"/>
              </a:ext>
            </a:extLst>
          </p:cNvPr>
          <p:cNvSpPr txBox="1"/>
          <p:nvPr/>
        </p:nvSpPr>
        <p:spPr>
          <a:xfrm>
            <a:off x="2756033" y="4572748"/>
            <a:ext cx="1189651" cy="1825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848" spc="0" baseline="0">
                <a:ln/>
                <a:solidFill>
                  <a:srgbClr val="0F172A"/>
                </a:solidFill>
                <a:latin typeface="Arial"/>
                <a:cs typeface="Arial"/>
                <a:sym typeface="Arial"/>
                <a:rtl val="0"/>
              </a:rPr>
              <a:t>lane: operation → operation</a:t>
            </a:r>
          </a:p>
        </p:txBody>
      </p:sp>
      <p:sp>
        <p:nvSpPr>
          <p:cNvPr id="132" name="Freeform: Shape 131">
            <a:extLst>
              <a:ext uri="{FF2B5EF4-FFF2-40B4-BE49-F238E27FC236}">
                <a16:creationId xmlns:a16="http://schemas.microsoft.com/office/drawing/2014/main" id="{D7141720-E4C3-0D49-09F9-ECA579535303}"/>
              </a:ext>
            </a:extLst>
          </p:cNvPr>
          <p:cNvSpPr/>
          <p:nvPr/>
        </p:nvSpPr>
        <p:spPr>
          <a:xfrm>
            <a:off x="2500964" y="4843913"/>
            <a:ext cx="274320" cy="7218"/>
          </a:xfrm>
          <a:custGeom>
            <a:avLst/>
            <a:gdLst>
              <a:gd name="csX0" fmla="*/ 0 w 274320"/>
              <a:gd name="csY0" fmla="*/ 0 h 7218"/>
              <a:gd name="csX1" fmla="*/ 274320 w 274320"/>
              <a:gd name="csY1" fmla="*/ 0 h 7218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274320" h="7218">
                <a:moveTo>
                  <a:pt x="0" y="0"/>
                </a:moveTo>
                <a:lnTo>
                  <a:pt x="274320" y="0"/>
                </a:lnTo>
              </a:path>
            </a:pathLst>
          </a:custGeom>
          <a:ln w="10101" cap="flat">
            <a:solidFill>
              <a:srgbClr val="2563EB"/>
            </a:solidFill>
            <a:custDash>
              <a:ds d="225000" sp="225000"/>
            </a:custDash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B0B2113B-2217-7680-6427-EE84EAD674F7}"/>
              </a:ext>
            </a:extLst>
          </p:cNvPr>
          <p:cNvSpPr txBox="1"/>
          <p:nvPr/>
        </p:nvSpPr>
        <p:spPr>
          <a:xfrm>
            <a:off x="2756033" y="4753222"/>
            <a:ext cx="1289308" cy="1825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848" spc="0" baseline="0">
                <a:ln/>
                <a:solidFill>
                  <a:srgbClr val="0F172A"/>
                </a:solidFill>
                <a:latin typeface="Arial"/>
                <a:cs typeface="Arial"/>
                <a:sym typeface="Arial"/>
                <a:rtl val="0"/>
              </a:rPr>
              <a:t>conflict: operation ↔ operation</a:t>
            </a:r>
          </a:p>
        </p:txBody>
      </p:sp>
      <p:sp>
        <p:nvSpPr>
          <p:cNvPr id="134" name="Freeform: Shape 133">
            <a:extLst>
              <a:ext uri="{FF2B5EF4-FFF2-40B4-BE49-F238E27FC236}">
                <a16:creationId xmlns:a16="http://schemas.microsoft.com/office/drawing/2014/main" id="{B920E54E-F83C-315E-CA3A-74481B26111B}"/>
              </a:ext>
            </a:extLst>
          </p:cNvPr>
          <p:cNvSpPr/>
          <p:nvPr/>
        </p:nvSpPr>
        <p:spPr>
          <a:xfrm>
            <a:off x="2500964" y="5024387"/>
            <a:ext cx="274320" cy="7218"/>
          </a:xfrm>
          <a:custGeom>
            <a:avLst/>
            <a:gdLst>
              <a:gd name="csX0" fmla="*/ 0 w 274320"/>
              <a:gd name="csY0" fmla="*/ 0 h 7218"/>
              <a:gd name="csX1" fmla="*/ 274320 w 274320"/>
              <a:gd name="csY1" fmla="*/ 0 h 7218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274320" h="7218">
                <a:moveTo>
                  <a:pt x="0" y="0"/>
                </a:moveTo>
                <a:lnTo>
                  <a:pt x="274320" y="0"/>
                </a:lnTo>
              </a:path>
            </a:pathLst>
          </a:custGeom>
          <a:ln w="10101" cap="flat">
            <a:solidFill>
              <a:srgbClr val="059669"/>
            </a:solidFill>
            <a:custDash>
              <a:ds d="375000" sp="225000"/>
            </a:custDash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A7012C65-B806-F197-2899-D234E003B8CD}"/>
              </a:ext>
            </a:extLst>
          </p:cNvPr>
          <p:cNvSpPr txBox="1"/>
          <p:nvPr/>
        </p:nvSpPr>
        <p:spPr>
          <a:xfrm>
            <a:off x="2756033" y="4933696"/>
            <a:ext cx="1139623" cy="1825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848" spc="0" baseline="0">
                <a:ln/>
                <a:solidFill>
                  <a:srgbClr val="0F172A"/>
                </a:solidFill>
                <a:latin typeface="Arial"/>
                <a:cs typeface="Arial"/>
                <a:sym typeface="Arial"/>
                <a:rtl val="0"/>
              </a:rPr>
              <a:t>owns: vehicle → operation</a:t>
            </a:r>
          </a:p>
        </p:txBody>
      </p:sp>
      <p:sp>
        <p:nvSpPr>
          <p:cNvPr id="136" name="Freeform: Shape 135">
            <a:extLst>
              <a:ext uri="{FF2B5EF4-FFF2-40B4-BE49-F238E27FC236}">
                <a16:creationId xmlns:a16="http://schemas.microsoft.com/office/drawing/2014/main" id="{B0DFF825-5EC7-17DC-CDD2-D75A351075DB}"/>
              </a:ext>
            </a:extLst>
          </p:cNvPr>
          <p:cNvSpPr/>
          <p:nvPr/>
        </p:nvSpPr>
        <p:spPr>
          <a:xfrm>
            <a:off x="2500964" y="5204861"/>
            <a:ext cx="274320" cy="7218"/>
          </a:xfrm>
          <a:custGeom>
            <a:avLst/>
            <a:gdLst>
              <a:gd name="csX0" fmla="*/ 0 w 274320"/>
              <a:gd name="csY0" fmla="*/ 0 h 7218"/>
              <a:gd name="csX1" fmla="*/ 274320 w 274320"/>
              <a:gd name="csY1" fmla="*/ 0 h 7218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274320" h="7218">
                <a:moveTo>
                  <a:pt x="0" y="0"/>
                </a:moveTo>
                <a:lnTo>
                  <a:pt x="274320" y="0"/>
                </a:lnTo>
              </a:path>
            </a:pathLst>
          </a:custGeom>
          <a:ln w="10101" cap="flat">
            <a:solidFill>
              <a:srgbClr val="D97706"/>
            </a:solidFill>
            <a:custDash>
              <a:ds d="375000" sp="225000"/>
            </a:custDash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0EE82DEE-1250-C7EE-2BFB-95A9A27EBF5C}"/>
              </a:ext>
            </a:extLst>
          </p:cNvPr>
          <p:cNvSpPr txBox="1"/>
          <p:nvPr/>
        </p:nvSpPr>
        <p:spPr>
          <a:xfrm>
            <a:off x="2756033" y="5114169"/>
            <a:ext cx="1067130" cy="1825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848" spc="0" baseline="0">
                <a:ln/>
                <a:solidFill>
                  <a:srgbClr val="0F172A"/>
                </a:solidFill>
                <a:latin typeface="Arial"/>
                <a:cs typeface="Arial"/>
                <a:sym typeface="Arial"/>
                <a:rtl val="0"/>
              </a:rPr>
              <a:t>hosts: zone → operation</a:t>
            </a: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5F51AA83-B152-F3CC-91F7-840EB04FF924}"/>
              </a:ext>
            </a:extLst>
          </p:cNvPr>
          <p:cNvSpPr txBox="1"/>
          <p:nvPr/>
        </p:nvSpPr>
        <p:spPr>
          <a:xfrm>
            <a:off x="2511578" y="5297911"/>
            <a:ext cx="1682442" cy="1785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810" spc="0" baseline="0">
                <a:ln/>
                <a:solidFill>
                  <a:srgbClr val="475569"/>
                </a:solidFill>
                <a:latin typeface="Arial"/>
                <a:cs typeface="Arial"/>
                <a:sym typeface="Arial"/>
                <a:rtl val="0"/>
              </a:rPr>
              <a:t>Operation nodes are the policy action units.</a:t>
            </a:r>
          </a:p>
        </p:txBody>
      </p:sp>
      <p:sp>
        <p:nvSpPr>
          <p:cNvPr id="139" name="Rectangle: Rounded Corners 138">
            <a:extLst>
              <a:ext uri="{FF2B5EF4-FFF2-40B4-BE49-F238E27FC236}">
                <a16:creationId xmlns:a16="http://schemas.microsoft.com/office/drawing/2014/main" id="{C1802690-DC93-A576-5229-46B14B3A0ABA}"/>
              </a:ext>
            </a:extLst>
          </p:cNvPr>
          <p:cNvSpPr/>
          <p:nvPr/>
        </p:nvSpPr>
        <p:spPr>
          <a:xfrm>
            <a:off x="4616115" y="721894"/>
            <a:ext cx="1624263" cy="4908884"/>
          </a:xfrm>
          <a:prstGeom prst="roundRect">
            <a:avLst>
              <a:gd name="adj" fmla="val 3555"/>
            </a:avLst>
          </a:prstGeom>
          <a:solidFill>
            <a:srgbClr val="FFFFFF"/>
          </a:solidFill>
          <a:ln w="12987" cap="flat">
            <a:solidFill>
              <a:srgbClr val="2563EB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2DFEF807-6DFD-62B4-A80C-1B5A6DEDB258}"/>
              </a:ext>
            </a:extLst>
          </p:cNvPr>
          <p:cNvSpPr txBox="1"/>
          <p:nvPr/>
        </p:nvSpPr>
        <p:spPr>
          <a:xfrm>
            <a:off x="4748004" y="752770"/>
            <a:ext cx="1360484" cy="2285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275" b="1" spc="0" baseline="0">
                <a:ln/>
                <a:solidFill>
                  <a:srgbClr val="2563EB"/>
                </a:solidFill>
                <a:latin typeface="Arial"/>
                <a:cs typeface="Arial"/>
                <a:sym typeface="Arial"/>
                <a:rtl val="0"/>
              </a:rPr>
              <a:t>Type-specific Linear</a:t>
            </a: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951EFCF7-6EAB-0632-FE79-6B16556EA2A2}"/>
              </a:ext>
            </a:extLst>
          </p:cNvPr>
          <p:cNvSpPr txBox="1"/>
          <p:nvPr/>
        </p:nvSpPr>
        <p:spPr>
          <a:xfrm>
            <a:off x="5036773" y="904368"/>
            <a:ext cx="782947" cy="2285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275" b="1" spc="0" baseline="0">
                <a:ln/>
                <a:solidFill>
                  <a:srgbClr val="2563EB"/>
                </a:solidFill>
                <a:latin typeface="Arial"/>
                <a:cs typeface="Arial"/>
                <a:sym typeface="Arial"/>
                <a:rtl val="0"/>
              </a:rPr>
              <a:t>Projection</a:t>
            </a: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FA5855AE-CD09-7A94-4A9D-50EA2359BF84}"/>
              </a:ext>
            </a:extLst>
          </p:cNvPr>
          <p:cNvSpPr txBox="1"/>
          <p:nvPr/>
        </p:nvSpPr>
        <p:spPr>
          <a:xfrm>
            <a:off x="4702806" y="1130648"/>
            <a:ext cx="1450881" cy="189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915" spc="0" baseline="0">
                <a:ln/>
                <a:solidFill>
                  <a:srgbClr val="475569"/>
                </a:solidFill>
                <a:latin typeface="Arial"/>
                <a:cs typeface="Arial"/>
                <a:sym typeface="Arial"/>
                <a:rtl val="0"/>
              </a:rPr>
              <a:t>all node embeddings → 128-dim</a:t>
            </a:r>
          </a:p>
        </p:txBody>
      </p:sp>
      <p:sp>
        <p:nvSpPr>
          <p:cNvPr id="143" name="Rectangle: Rounded Corners 142">
            <a:extLst>
              <a:ext uri="{FF2B5EF4-FFF2-40B4-BE49-F238E27FC236}">
                <a16:creationId xmlns:a16="http://schemas.microsoft.com/office/drawing/2014/main" id="{43F4ADD9-DC00-9188-8972-670475919EB8}"/>
              </a:ext>
            </a:extLst>
          </p:cNvPr>
          <p:cNvSpPr/>
          <p:nvPr/>
        </p:nvSpPr>
        <p:spPr>
          <a:xfrm>
            <a:off x="4724399" y="1407694"/>
            <a:ext cx="1407694" cy="606391"/>
          </a:xfrm>
          <a:prstGeom prst="roundRect">
            <a:avLst>
              <a:gd name="adj" fmla="val 7142"/>
            </a:avLst>
          </a:prstGeom>
          <a:solidFill>
            <a:srgbClr val="F1F5F9"/>
          </a:solidFill>
          <a:ln w="9380" cap="flat">
            <a:solidFill>
              <a:srgbClr val="CBD5E1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2411A146-2694-B642-445D-0709B174C5D1}"/>
              </a:ext>
            </a:extLst>
          </p:cNvPr>
          <p:cNvSpPr txBox="1"/>
          <p:nvPr/>
        </p:nvSpPr>
        <p:spPr>
          <a:xfrm>
            <a:off x="4692412" y="1526080"/>
            <a:ext cx="1471669" cy="1867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990" spc="0" baseline="0">
                <a:ln/>
                <a:solidFill>
                  <a:srgbClr val="0F172A"/>
                </a:solidFill>
                <a:latin typeface="Cambria Math"/>
                <a:ea typeface="Cambria Math"/>
                <a:sym typeface="Cambria Math"/>
                <a:rtl val="0"/>
              </a:rPr>
              <a:t>H_τ⁰ = σ(X_τ W_in^τ + b_in^τ) </a:t>
            </a: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2C0E54BE-C0A1-4FBF-6A8F-E18A57215CAC}"/>
              </a:ext>
            </a:extLst>
          </p:cNvPr>
          <p:cNvSpPr txBox="1"/>
          <p:nvPr/>
        </p:nvSpPr>
        <p:spPr>
          <a:xfrm>
            <a:off x="4964766" y="1706554"/>
            <a:ext cx="926962" cy="186730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 algn="l"/>
            <a:r>
              <a:rPr lang="en-US" sz="1485" spc="0" baseline="126263">
                <a:ln/>
                <a:solidFill>
                  <a:srgbClr val="0F172A"/>
                </a:solidFill>
                <a:latin typeface="Cambria Math"/>
                <a:ea typeface="Cambria Math"/>
                <a:sym typeface="Cambria Math"/>
                <a:rtl val="0"/>
              </a:rPr>
              <a:t>τ ∈ {op, veh, zone}</a:t>
            </a:r>
          </a:p>
        </p:txBody>
      </p:sp>
      <p:sp>
        <p:nvSpPr>
          <p:cNvPr id="146" name="Rectangle: Rounded Corners 145">
            <a:extLst>
              <a:ext uri="{FF2B5EF4-FFF2-40B4-BE49-F238E27FC236}">
                <a16:creationId xmlns:a16="http://schemas.microsoft.com/office/drawing/2014/main" id="{5B8E8643-509B-0091-6481-4E3DB9F20907}"/>
              </a:ext>
            </a:extLst>
          </p:cNvPr>
          <p:cNvSpPr/>
          <p:nvPr/>
        </p:nvSpPr>
        <p:spPr>
          <a:xfrm>
            <a:off x="4724399" y="2237873"/>
            <a:ext cx="1407694" cy="664143"/>
          </a:xfrm>
          <a:prstGeom prst="roundRect">
            <a:avLst>
              <a:gd name="adj" fmla="val 6521"/>
            </a:avLst>
          </a:prstGeom>
          <a:solidFill>
            <a:srgbClr val="EFF6FF"/>
          </a:solidFill>
          <a:ln w="10101" cap="flat">
            <a:solidFill>
              <a:srgbClr val="2563EB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95FF53B5-BC6A-1D10-AE7B-AF6E55D15E02}"/>
              </a:ext>
            </a:extLst>
          </p:cNvPr>
          <p:cNvSpPr txBox="1"/>
          <p:nvPr/>
        </p:nvSpPr>
        <p:spPr>
          <a:xfrm>
            <a:off x="4741244" y="2291622"/>
            <a:ext cx="626855" cy="2003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013" b="1" spc="0" baseline="0">
                <a:ln/>
                <a:solidFill>
                  <a:srgbClr val="2563EB"/>
                </a:solidFill>
                <a:latin typeface="Arial"/>
                <a:cs typeface="Arial"/>
                <a:sym typeface="Arial"/>
                <a:rtl val="0"/>
              </a:rPr>
              <a:t>operation</a:t>
            </a: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53AF1EB3-16BB-2892-EE96-3815F9A2F97B}"/>
              </a:ext>
            </a:extLst>
          </p:cNvPr>
          <p:cNvSpPr txBox="1"/>
          <p:nvPr/>
        </p:nvSpPr>
        <p:spPr>
          <a:xfrm>
            <a:off x="4795037" y="2531740"/>
            <a:ext cx="1266420" cy="201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975" spc="0" baseline="0">
                <a:ln/>
                <a:solidFill>
                  <a:srgbClr val="0F172A"/>
                </a:solidFill>
                <a:latin typeface="Consolas"/>
                <a:sym typeface="Consolas"/>
                <a:rtl val="0"/>
              </a:rPr>
              <a:t>[n_o, 6] → [n_o, 128]</a:t>
            </a:r>
          </a:p>
        </p:txBody>
      </p:sp>
      <p:sp>
        <p:nvSpPr>
          <p:cNvPr id="149" name="Rectangle: Rounded Corners 148">
            <a:extLst>
              <a:ext uri="{FF2B5EF4-FFF2-40B4-BE49-F238E27FC236}">
                <a16:creationId xmlns:a16="http://schemas.microsoft.com/office/drawing/2014/main" id="{60E64023-4476-250E-5B77-DBA98EAFE64A}"/>
              </a:ext>
            </a:extLst>
          </p:cNvPr>
          <p:cNvSpPr/>
          <p:nvPr/>
        </p:nvSpPr>
        <p:spPr>
          <a:xfrm>
            <a:off x="4724399" y="3089709"/>
            <a:ext cx="1407694" cy="664143"/>
          </a:xfrm>
          <a:prstGeom prst="roundRect">
            <a:avLst>
              <a:gd name="adj" fmla="val 6521"/>
            </a:avLst>
          </a:prstGeom>
          <a:solidFill>
            <a:srgbClr val="ECFDF5"/>
          </a:solidFill>
          <a:ln w="10101" cap="flat">
            <a:solidFill>
              <a:srgbClr val="059669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0A2672DC-DF46-8331-F1A5-74DD70BEBED6}"/>
              </a:ext>
            </a:extLst>
          </p:cNvPr>
          <p:cNvSpPr txBox="1"/>
          <p:nvPr/>
        </p:nvSpPr>
        <p:spPr>
          <a:xfrm>
            <a:off x="4741244" y="3143457"/>
            <a:ext cx="513363" cy="2003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013" b="1" spc="0" baseline="0">
                <a:ln/>
                <a:solidFill>
                  <a:srgbClr val="059669"/>
                </a:solidFill>
                <a:latin typeface="Arial"/>
                <a:cs typeface="Arial"/>
                <a:sym typeface="Arial"/>
                <a:rtl val="0"/>
              </a:rPr>
              <a:t>vehicle</a:t>
            </a: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9CF1457E-2B83-427A-47CE-520BD015740D}"/>
              </a:ext>
            </a:extLst>
          </p:cNvPr>
          <p:cNvSpPr txBox="1"/>
          <p:nvPr/>
        </p:nvSpPr>
        <p:spPr>
          <a:xfrm>
            <a:off x="4795037" y="3383576"/>
            <a:ext cx="1266420" cy="201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975" spc="0" baseline="0">
                <a:ln/>
                <a:solidFill>
                  <a:srgbClr val="0F172A"/>
                </a:solidFill>
                <a:latin typeface="Consolas"/>
                <a:sym typeface="Consolas"/>
                <a:rtl val="0"/>
              </a:rPr>
              <a:t>[n_v, 4] → [n_v, 128]</a:t>
            </a:r>
          </a:p>
        </p:txBody>
      </p:sp>
      <p:sp>
        <p:nvSpPr>
          <p:cNvPr id="152" name="Rectangle: Rounded Corners 151">
            <a:extLst>
              <a:ext uri="{FF2B5EF4-FFF2-40B4-BE49-F238E27FC236}">
                <a16:creationId xmlns:a16="http://schemas.microsoft.com/office/drawing/2014/main" id="{BB58C934-37DD-C7C3-2F37-26A72A7B34C3}"/>
              </a:ext>
            </a:extLst>
          </p:cNvPr>
          <p:cNvSpPr/>
          <p:nvPr/>
        </p:nvSpPr>
        <p:spPr>
          <a:xfrm>
            <a:off x="4724399" y="3941545"/>
            <a:ext cx="1407694" cy="664143"/>
          </a:xfrm>
          <a:prstGeom prst="roundRect">
            <a:avLst>
              <a:gd name="adj" fmla="val 6521"/>
            </a:avLst>
          </a:prstGeom>
          <a:solidFill>
            <a:srgbClr val="FFF7ED"/>
          </a:solidFill>
          <a:ln w="10101" cap="flat">
            <a:solidFill>
              <a:srgbClr val="D97706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2C3C5149-E70E-6A0F-A799-4681F9C5EC73}"/>
              </a:ext>
            </a:extLst>
          </p:cNvPr>
          <p:cNvSpPr txBox="1"/>
          <p:nvPr/>
        </p:nvSpPr>
        <p:spPr>
          <a:xfrm>
            <a:off x="4741244" y="3995293"/>
            <a:ext cx="404867" cy="2003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013" b="1" spc="0" baseline="0">
                <a:ln/>
                <a:solidFill>
                  <a:srgbClr val="D97706"/>
                </a:solidFill>
                <a:latin typeface="Arial"/>
                <a:cs typeface="Arial"/>
                <a:sym typeface="Arial"/>
                <a:rtl val="0"/>
              </a:rPr>
              <a:t>zone</a:t>
            </a: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BFE40F76-DED6-3FDC-0CE3-DAF30E08020B}"/>
              </a:ext>
            </a:extLst>
          </p:cNvPr>
          <p:cNvSpPr txBox="1"/>
          <p:nvPr/>
        </p:nvSpPr>
        <p:spPr>
          <a:xfrm>
            <a:off x="4795037" y="4235411"/>
            <a:ext cx="1266420" cy="201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975" spc="0" baseline="0">
                <a:ln/>
                <a:solidFill>
                  <a:srgbClr val="0F172A"/>
                </a:solidFill>
                <a:latin typeface="Consolas"/>
                <a:sym typeface="Consolas"/>
                <a:rtl val="0"/>
              </a:rPr>
              <a:t>[n_z, 5] → [n_z, 128]</a:t>
            </a:r>
          </a:p>
        </p:txBody>
      </p:sp>
      <p:sp>
        <p:nvSpPr>
          <p:cNvPr id="155" name="Rectangle: Rounded Corners 154">
            <a:extLst>
              <a:ext uri="{FF2B5EF4-FFF2-40B4-BE49-F238E27FC236}">
                <a16:creationId xmlns:a16="http://schemas.microsoft.com/office/drawing/2014/main" id="{7F7DB251-9391-007F-DD58-7BE063924EF0}"/>
              </a:ext>
            </a:extLst>
          </p:cNvPr>
          <p:cNvSpPr/>
          <p:nvPr/>
        </p:nvSpPr>
        <p:spPr>
          <a:xfrm>
            <a:off x="4724399" y="4872789"/>
            <a:ext cx="1407694" cy="555858"/>
          </a:xfrm>
          <a:prstGeom prst="roundRect">
            <a:avLst>
              <a:gd name="adj" fmla="val 7792"/>
            </a:avLst>
          </a:prstGeom>
          <a:solidFill>
            <a:srgbClr val="F1F5F9"/>
          </a:solidFill>
          <a:ln w="8658" cap="flat">
            <a:solidFill>
              <a:srgbClr val="CBD5E1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940C7201-F92C-C956-4330-EA4E7BD15229}"/>
              </a:ext>
            </a:extLst>
          </p:cNvPr>
          <p:cNvSpPr txBox="1"/>
          <p:nvPr/>
        </p:nvSpPr>
        <p:spPr>
          <a:xfrm>
            <a:off x="4825105" y="4961948"/>
            <a:ext cx="1206283" cy="1922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938" spc="0" baseline="0">
                <a:ln/>
                <a:solidFill>
                  <a:srgbClr val="475569"/>
                </a:solidFill>
                <a:latin typeface="Arial"/>
                <a:cs typeface="Arial"/>
                <a:sym typeface="Arial"/>
                <a:rtl val="0"/>
              </a:rPr>
              <a:t>Shared hidden dimension</a:t>
            </a: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E31FF9E9-8A3E-FFF7-C99B-79504870D322}"/>
              </a:ext>
            </a:extLst>
          </p:cNvPr>
          <p:cNvSpPr txBox="1"/>
          <p:nvPr/>
        </p:nvSpPr>
        <p:spPr>
          <a:xfrm>
            <a:off x="5091363" y="5136736"/>
            <a:ext cx="668911" cy="2437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350" b="1" spc="0" baseline="0">
                <a:ln/>
                <a:solidFill>
                  <a:srgbClr val="0F172A"/>
                </a:solidFill>
                <a:latin typeface="Cambria Math"/>
                <a:ea typeface="Cambria Math"/>
                <a:sym typeface="Cambria Math"/>
                <a:rtl val="0"/>
              </a:rPr>
              <a:t>F = 128</a:t>
            </a:r>
          </a:p>
        </p:txBody>
      </p:sp>
      <p:sp>
        <p:nvSpPr>
          <p:cNvPr id="158" name="Rectangle: Rounded Corners 157">
            <a:extLst>
              <a:ext uri="{FF2B5EF4-FFF2-40B4-BE49-F238E27FC236}">
                <a16:creationId xmlns:a16="http://schemas.microsoft.com/office/drawing/2014/main" id="{7D379DE5-E788-8537-E584-B89C73888669}"/>
              </a:ext>
            </a:extLst>
          </p:cNvPr>
          <p:cNvSpPr/>
          <p:nvPr/>
        </p:nvSpPr>
        <p:spPr>
          <a:xfrm>
            <a:off x="6420852" y="721894"/>
            <a:ext cx="2815389" cy="4908884"/>
          </a:xfrm>
          <a:prstGeom prst="roundRect">
            <a:avLst>
              <a:gd name="adj" fmla="val 2051"/>
            </a:avLst>
          </a:prstGeom>
          <a:solidFill>
            <a:srgbClr val="F5F3FF"/>
          </a:solidFill>
          <a:ln w="14430" cap="flat">
            <a:solidFill>
              <a:srgbClr val="7C3AED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46B2F32E-C660-CC9C-8D6C-83E5095DFB2B}"/>
              </a:ext>
            </a:extLst>
          </p:cNvPr>
          <p:cNvSpPr txBox="1"/>
          <p:nvPr/>
        </p:nvSpPr>
        <p:spPr>
          <a:xfrm>
            <a:off x="6824504" y="754137"/>
            <a:ext cx="2008085" cy="2446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425" b="1" spc="0" baseline="0">
                <a:ln/>
                <a:solidFill>
                  <a:srgbClr val="7C3AED"/>
                </a:solidFill>
                <a:latin typeface="Arial"/>
                <a:cs typeface="Arial"/>
                <a:sym typeface="Arial"/>
                <a:rtl val="0"/>
              </a:rPr>
              <a:t>HGT Encoder: 3 × HGTConv</a:t>
            </a: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F7F576EA-F168-6925-65C1-5C79F38AE477}"/>
              </a:ext>
            </a:extLst>
          </p:cNvPr>
          <p:cNvSpPr txBox="1"/>
          <p:nvPr/>
        </p:nvSpPr>
        <p:spPr>
          <a:xfrm>
            <a:off x="6484562" y="969187"/>
            <a:ext cx="2687969" cy="1841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863" spc="0" baseline="0">
                <a:ln/>
                <a:solidFill>
                  <a:srgbClr val="475569"/>
                </a:solidFill>
                <a:latin typeface="Arial"/>
                <a:cs typeface="Arial"/>
                <a:sym typeface="Arial"/>
                <a:rtl val="0"/>
              </a:rPr>
              <a:t>4 attention heads, d_h = 32 • typed relation-aware message passing</a:t>
            </a:r>
          </a:p>
        </p:txBody>
      </p:sp>
      <p:sp>
        <p:nvSpPr>
          <p:cNvPr id="161" name="Rectangle: Rounded Corners 160">
            <a:extLst>
              <a:ext uri="{FF2B5EF4-FFF2-40B4-BE49-F238E27FC236}">
                <a16:creationId xmlns:a16="http://schemas.microsoft.com/office/drawing/2014/main" id="{E96FC5AA-76E0-8D6D-ED96-3FEAD9737E81}"/>
              </a:ext>
            </a:extLst>
          </p:cNvPr>
          <p:cNvSpPr/>
          <p:nvPr/>
        </p:nvSpPr>
        <p:spPr>
          <a:xfrm>
            <a:off x="6529136" y="1263315"/>
            <a:ext cx="1155031" cy="1140593"/>
          </a:xfrm>
          <a:prstGeom prst="roundRect">
            <a:avLst>
              <a:gd name="adj" fmla="val 4430"/>
            </a:avLst>
          </a:prstGeom>
          <a:solidFill>
            <a:srgbClr val="FFFFFF"/>
          </a:solidFill>
          <a:ln w="10101" cap="flat">
            <a:solidFill>
              <a:srgbClr val="7C3AED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A7449325-64FA-8AEB-629F-609B170C7AE3}"/>
              </a:ext>
            </a:extLst>
          </p:cNvPr>
          <p:cNvSpPr txBox="1"/>
          <p:nvPr/>
        </p:nvSpPr>
        <p:spPr>
          <a:xfrm>
            <a:off x="6585130" y="1298051"/>
            <a:ext cx="1043045" cy="20596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065" b="1" spc="0" baseline="0">
                <a:ln/>
                <a:solidFill>
                  <a:srgbClr val="7C3AED"/>
                </a:solidFill>
                <a:latin typeface="Arial"/>
                <a:cs typeface="Arial"/>
                <a:sym typeface="Arial"/>
                <a:rtl val="0"/>
              </a:rPr>
              <a:t>HGTConv Layer 1</a:t>
            </a: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B90A691D-7283-C195-C3C8-C861E7A35C6D}"/>
              </a:ext>
            </a:extLst>
          </p:cNvPr>
          <p:cNvSpPr txBox="1"/>
          <p:nvPr/>
        </p:nvSpPr>
        <p:spPr>
          <a:xfrm>
            <a:off x="6524324" y="1497477"/>
            <a:ext cx="862637" cy="1825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848" b="1" spc="0" baseline="0">
                <a:ln/>
                <a:solidFill>
                  <a:srgbClr val="0F172A"/>
                </a:solidFill>
                <a:latin typeface="Arial"/>
                <a:cs typeface="Arial"/>
                <a:sym typeface="Arial"/>
                <a:rtl val="0"/>
              </a:rPr>
              <a:t>Input node types:</a:t>
            </a:r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8EB45878-9302-5D35-5F6E-3E0907F16F39}"/>
              </a:ext>
            </a:extLst>
          </p:cNvPr>
          <p:cNvSpPr txBox="1"/>
          <p:nvPr/>
        </p:nvSpPr>
        <p:spPr>
          <a:xfrm>
            <a:off x="6567637" y="1643981"/>
            <a:ext cx="1083051" cy="1827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810" spc="0" baseline="0">
                <a:ln/>
                <a:solidFill>
                  <a:srgbClr val="0F172A"/>
                </a:solidFill>
                <a:latin typeface="Consolas"/>
                <a:sym typeface="Consolas"/>
                <a:rtl val="0"/>
              </a:rPr>
              <a:t>operation [n_o, 128] </a:t>
            </a: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AE3CA487-FD41-C5D9-89A4-1323F1D4468E}"/>
              </a:ext>
            </a:extLst>
          </p:cNvPr>
          <p:cNvSpPr txBox="1"/>
          <p:nvPr/>
        </p:nvSpPr>
        <p:spPr>
          <a:xfrm>
            <a:off x="6567637" y="1773922"/>
            <a:ext cx="997321" cy="182728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 algn="l"/>
            <a:r>
              <a:rPr lang="en-US" sz="1215" spc="0" baseline="111111">
                <a:ln/>
                <a:solidFill>
                  <a:srgbClr val="0F172A"/>
                </a:solidFill>
                <a:latin typeface="Consolas"/>
                <a:sym typeface="Consolas"/>
                <a:rtl val="0"/>
              </a:rPr>
              <a:t>vehicle [n_v, 128]</a:t>
            </a:r>
            <a:r>
              <a:rPr lang="en-US" sz="810" spc="0" baseline="0">
                <a:ln/>
                <a:solidFill>
                  <a:srgbClr val="0F172A"/>
                </a:solidFill>
                <a:latin typeface="Consolas"/>
                <a:sym typeface="Consolas"/>
                <a:rtl val="0"/>
              </a:rPr>
              <a:t> </a:t>
            </a:r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2D03F4D7-C795-5024-EDEF-2A049E8836C4}"/>
              </a:ext>
            </a:extLst>
          </p:cNvPr>
          <p:cNvSpPr txBox="1"/>
          <p:nvPr/>
        </p:nvSpPr>
        <p:spPr>
          <a:xfrm>
            <a:off x="6567637" y="1903863"/>
            <a:ext cx="825859" cy="182728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 algn="l"/>
            <a:r>
              <a:rPr lang="en-US" sz="1215" spc="0" baseline="111111">
                <a:ln/>
                <a:solidFill>
                  <a:srgbClr val="0F172A"/>
                </a:solidFill>
                <a:latin typeface="Consolas"/>
                <a:sym typeface="Consolas"/>
                <a:rtl val="0"/>
              </a:rPr>
              <a:t>zone [n_z, 128]</a:t>
            </a:r>
          </a:p>
        </p:txBody>
      </p:sp>
      <p:sp>
        <p:nvSpPr>
          <p:cNvPr id="167" name="Freeform: Shape 166">
            <a:extLst>
              <a:ext uri="{FF2B5EF4-FFF2-40B4-BE49-F238E27FC236}">
                <a16:creationId xmlns:a16="http://schemas.microsoft.com/office/drawing/2014/main" id="{96FFFBF4-3103-AB12-8C58-A41360D498B8}"/>
              </a:ext>
            </a:extLst>
          </p:cNvPr>
          <p:cNvSpPr/>
          <p:nvPr/>
        </p:nvSpPr>
        <p:spPr>
          <a:xfrm>
            <a:off x="6630202" y="2158465"/>
            <a:ext cx="952901" cy="7218"/>
          </a:xfrm>
          <a:custGeom>
            <a:avLst/>
            <a:gdLst>
              <a:gd name="csX0" fmla="*/ 0 w 952901"/>
              <a:gd name="csY0" fmla="*/ 0 h 7218"/>
              <a:gd name="csX1" fmla="*/ 952901 w 952901"/>
              <a:gd name="csY1" fmla="*/ 0 h 7218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952901" h="7218">
                <a:moveTo>
                  <a:pt x="0" y="0"/>
                </a:moveTo>
                <a:lnTo>
                  <a:pt x="952901" y="0"/>
                </a:lnTo>
              </a:path>
            </a:pathLst>
          </a:custGeom>
          <a:ln w="7215" cap="flat">
            <a:solidFill>
              <a:srgbClr val="CBD5E1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D41F3384-73D0-78F9-057A-3C055026F918}"/>
              </a:ext>
            </a:extLst>
          </p:cNvPr>
          <p:cNvSpPr txBox="1"/>
          <p:nvPr/>
        </p:nvSpPr>
        <p:spPr>
          <a:xfrm>
            <a:off x="6524324" y="2204489"/>
            <a:ext cx="1024707" cy="1768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758" b="1" spc="0" baseline="0">
                <a:ln/>
                <a:solidFill>
                  <a:srgbClr val="0F172A"/>
                </a:solidFill>
                <a:latin typeface="Consolas"/>
                <a:sym typeface="Consolas"/>
                <a:rtl val="0"/>
              </a:rPr>
              <a:t>Output: op [n_o, 128]</a:t>
            </a:r>
          </a:p>
        </p:txBody>
      </p:sp>
      <p:sp>
        <p:nvSpPr>
          <p:cNvPr id="169" name="Freeform: Shape 168">
            <a:extLst>
              <a:ext uri="{FF2B5EF4-FFF2-40B4-BE49-F238E27FC236}">
                <a16:creationId xmlns:a16="http://schemas.microsoft.com/office/drawing/2014/main" id="{F2AB5744-0A9A-7B88-2BE9-9F1356EBCBE6}"/>
              </a:ext>
            </a:extLst>
          </p:cNvPr>
          <p:cNvSpPr/>
          <p:nvPr/>
        </p:nvSpPr>
        <p:spPr>
          <a:xfrm>
            <a:off x="7106652" y="2411128"/>
            <a:ext cx="7218" cy="122722"/>
          </a:xfrm>
          <a:custGeom>
            <a:avLst/>
            <a:gdLst>
              <a:gd name="csX0" fmla="*/ 0 w 7218"/>
              <a:gd name="csY0" fmla="*/ 0 h 122722"/>
              <a:gd name="csX1" fmla="*/ 0 w 7218"/>
              <a:gd name="csY1" fmla="*/ 122722 h 122722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7218" h="122722">
                <a:moveTo>
                  <a:pt x="0" y="0"/>
                </a:moveTo>
                <a:lnTo>
                  <a:pt x="0" y="122722"/>
                </a:lnTo>
              </a:path>
            </a:pathLst>
          </a:custGeom>
          <a:ln w="14430" cap="flat">
            <a:solidFill>
              <a:srgbClr val="7C3AED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70" name="Rectangle: Rounded Corners 169">
            <a:extLst>
              <a:ext uri="{FF2B5EF4-FFF2-40B4-BE49-F238E27FC236}">
                <a16:creationId xmlns:a16="http://schemas.microsoft.com/office/drawing/2014/main" id="{C38F8464-8E52-221B-FEA4-2AB8CA7C54E2}"/>
              </a:ext>
            </a:extLst>
          </p:cNvPr>
          <p:cNvSpPr/>
          <p:nvPr/>
        </p:nvSpPr>
        <p:spPr>
          <a:xfrm>
            <a:off x="6529136" y="2541069"/>
            <a:ext cx="1155031" cy="1140593"/>
          </a:xfrm>
          <a:prstGeom prst="roundRect">
            <a:avLst>
              <a:gd name="adj" fmla="val 4430"/>
            </a:avLst>
          </a:prstGeom>
          <a:solidFill>
            <a:srgbClr val="FFFFFF"/>
          </a:solidFill>
          <a:ln w="10101" cap="flat">
            <a:solidFill>
              <a:srgbClr val="7C3AED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2D1192C4-51F1-12A1-61FF-E422718E2117}"/>
              </a:ext>
            </a:extLst>
          </p:cNvPr>
          <p:cNvSpPr txBox="1"/>
          <p:nvPr/>
        </p:nvSpPr>
        <p:spPr>
          <a:xfrm>
            <a:off x="6585130" y="2575805"/>
            <a:ext cx="1043045" cy="20596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065" b="1" spc="0" baseline="0">
                <a:ln/>
                <a:solidFill>
                  <a:srgbClr val="7C3AED"/>
                </a:solidFill>
                <a:latin typeface="Arial"/>
                <a:cs typeface="Arial"/>
                <a:sym typeface="Arial"/>
                <a:rtl val="0"/>
              </a:rPr>
              <a:t>HGTConv Layer 2</a:t>
            </a:r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95FC24E9-8D7B-48D9-F08F-349D9E8BFEEC}"/>
              </a:ext>
            </a:extLst>
          </p:cNvPr>
          <p:cNvSpPr txBox="1"/>
          <p:nvPr/>
        </p:nvSpPr>
        <p:spPr>
          <a:xfrm>
            <a:off x="6524324" y="2775231"/>
            <a:ext cx="862637" cy="1825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848" b="1" spc="0" baseline="0">
                <a:ln/>
                <a:solidFill>
                  <a:srgbClr val="0F172A"/>
                </a:solidFill>
                <a:latin typeface="Arial"/>
                <a:cs typeface="Arial"/>
                <a:sym typeface="Arial"/>
                <a:rtl val="0"/>
              </a:rPr>
              <a:t>Input node types:</a:t>
            </a:r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291CF5A2-70E3-CB98-9A3A-20537A70178F}"/>
              </a:ext>
            </a:extLst>
          </p:cNvPr>
          <p:cNvSpPr txBox="1"/>
          <p:nvPr/>
        </p:nvSpPr>
        <p:spPr>
          <a:xfrm>
            <a:off x="6567637" y="2921735"/>
            <a:ext cx="1083051" cy="1827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810" spc="0" baseline="0">
                <a:ln/>
                <a:solidFill>
                  <a:srgbClr val="0F172A"/>
                </a:solidFill>
                <a:latin typeface="Consolas"/>
                <a:sym typeface="Consolas"/>
                <a:rtl val="0"/>
              </a:rPr>
              <a:t>operation [n_o, 128] </a:t>
            </a:r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9BAA1BAD-56E8-A5C3-76F0-796FC91E74C7}"/>
              </a:ext>
            </a:extLst>
          </p:cNvPr>
          <p:cNvSpPr txBox="1"/>
          <p:nvPr/>
        </p:nvSpPr>
        <p:spPr>
          <a:xfrm>
            <a:off x="6567637" y="3051676"/>
            <a:ext cx="997321" cy="182728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 algn="l"/>
            <a:r>
              <a:rPr lang="en-US" sz="1215" spc="0" baseline="111111">
                <a:ln/>
                <a:solidFill>
                  <a:srgbClr val="0F172A"/>
                </a:solidFill>
                <a:latin typeface="Consolas"/>
                <a:sym typeface="Consolas"/>
                <a:rtl val="0"/>
              </a:rPr>
              <a:t>vehicle [n_v, 128]</a:t>
            </a:r>
            <a:r>
              <a:rPr lang="en-US" sz="810" spc="0" baseline="0">
                <a:ln/>
                <a:solidFill>
                  <a:srgbClr val="0F172A"/>
                </a:solidFill>
                <a:latin typeface="Consolas"/>
                <a:sym typeface="Consolas"/>
                <a:rtl val="0"/>
              </a:rPr>
              <a:t> </a:t>
            </a: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37049C7B-51A6-D572-2592-B0C33FD6AA43}"/>
              </a:ext>
            </a:extLst>
          </p:cNvPr>
          <p:cNvSpPr txBox="1"/>
          <p:nvPr/>
        </p:nvSpPr>
        <p:spPr>
          <a:xfrm>
            <a:off x="6567637" y="3181617"/>
            <a:ext cx="825859" cy="182728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 algn="l"/>
            <a:r>
              <a:rPr lang="en-US" sz="1215" spc="0" baseline="111111">
                <a:ln/>
                <a:solidFill>
                  <a:srgbClr val="0F172A"/>
                </a:solidFill>
                <a:latin typeface="Consolas"/>
                <a:sym typeface="Consolas"/>
                <a:rtl val="0"/>
              </a:rPr>
              <a:t>zone [n_z, 128]</a:t>
            </a:r>
          </a:p>
        </p:txBody>
      </p:sp>
      <p:sp>
        <p:nvSpPr>
          <p:cNvPr id="176" name="Freeform: Shape 175">
            <a:extLst>
              <a:ext uri="{FF2B5EF4-FFF2-40B4-BE49-F238E27FC236}">
                <a16:creationId xmlns:a16="http://schemas.microsoft.com/office/drawing/2014/main" id="{F51BD781-64C1-6FA6-073B-414E0B8D7176}"/>
              </a:ext>
            </a:extLst>
          </p:cNvPr>
          <p:cNvSpPr/>
          <p:nvPr/>
        </p:nvSpPr>
        <p:spPr>
          <a:xfrm>
            <a:off x="6630202" y="3436218"/>
            <a:ext cx="952901" cy="7218"/>
          </a:xfrm>
          <a:custGeom>
            <a:avLst/>
            <a:gdLst>
              <a:gd name="csX0" fmla="*/ 0 w 952901"/>
              <a:gd name="csY0" fmla="*/ 0 h 7218"/>
              <a:gd name="csX1" fmla="*/ 952901 w 952901"/>
              <a:gd name="csY1" fmla="*/ 0 h 7218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952901" h="7218">
                <a:moveTo>
                  <a:pt x="0" y="0"/>
                </a:moveTo>
                <a:lnTo>
                  <a:pt x="952901" y="0"/>
                </a:lnTo>
              </a:path>
            </a:pathLst>
          </a:custGeom>
          <a:ln w="7215" cap="flat">
            <a:solidFill>
              <a:srgbClr val="CBD5E1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id="{7CFCEF1C-87A0-0A22-6E9F-D4862D230EAD}"/>
              </a:ext>
            </a:extLst>
          </p:cNvPr>
          <p:cNvSpPr txBox="1"/>
          <p:nvPr/>
        </p:nvSpPr>
        <p:spPr>
          <a:xfrm>
            <a:off x="6524324" y="3482243"/>
            <a:ext cx="1024707" cy="1768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758" b="1" spc="0" baseline="0">
                <a:ln/>
                <a:solidFill>
                  <a:srgbClr val="0F172A"/>
                </a:solidFill>
                <a:latin typeface="Consolas"/>
                <a:sym typeface="Consolas"/>
                <a:rtl val="0"/>
              </a:rPr>
              <a:t>Output: op [n_o, 128]</a:t>
            </a:r>
          </a:p>
        </p:txBody>
      </p:sp>
      <p:sp>
        <p:nvSpPr>
          <p:cNvPr id="178" name="Freeform: Shape 177">
            <a:extLst>
              <a:ext uri="{FF2B5EF4-FFF2-40B4-BE49-F238E27FC236}">
                <a16:creationId xmlns:a16="http://schemas.microsoft.com/office/drawing/2014/main" id="{C328BF3C-3316-2F9A-FFEC-DB7BC6C5D100}"/>
              </a:ext>
            </a:extLst>
          </p:cNvPr>
          <p:cNvSpPr/>
          <p:nvPr/>
        </p:nvSpPr>
        <p:spPr>
          <a:xfrm>
            <a:off x="7106652" y="3688882"/>
            <a:ext cx="7218" cy="122722"/>
          </a:xfrm>
          <a:custGeom>
            <a:avLst/>
            <a:gdLst>
              <a:gd name="csX0" fmla="*/ 0 w 7218"/>
              <a:gd name="csY0" fmla="*/ 0 h 122722"/>
              <a:gd name="csX1" fmla="*/ 0 w 7218"/>
              <a:gd name="csY1" fmla="*/ 122722 h 122722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7218" h="122722">
                <a:moveTo>
                  <a:pt x="0" y="0"/>
                </a:moveTo>
                <a:lnTo>
                  <a:pt x="0" y="122722"/>
                </a:lnTo>
              </a:path>
            </a:pathLst>
          </a:custGeom>
          <a:ln w="14430" cap="flat">
            <a:solidFill>
              <a:srgbClr val="7C3AED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79" name="Rectangle: Rounded Corners 178">
            <a:extLst>
              <a:ext uri="{FF2B5EF4-FFF2-40B4-BE49-F238E27FC236}">
                <a16:creationId xmlns:a16="http://schemas.microsoft.com/office/drawing/2014/main" id="{63A10089-3556-A803-0F53-0DA03C7094CF}"/>
              </a:ext>
            </a:extLst>
          </p:cNvPr>
          <p:cNvSpPr/>
          <p:nvPr/>
        </p:nvSpPr>
        <p:spPr>
          <a:xfrm>
            <a:off x="6529136" y="3818823"/>
            <a:ext cx="1155031" cy="1140593"/>
          </a:xfrm>
          <a:prstGeom prst="roundRect">
            <a:avLst>
              <a:gd name="adj" fmla="val 4430"/>
            </a:avLst>
          </a:prstGeom>
          <a:solidFill>
            <a:srgbClr val="FFFFFF"/>
          </a:solidFill>
          <a:ln w="10101" cap="flat">
            <a:solidFill>
              <a:srgbClr val="7C3AED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DD6F9116-623D-8BEB-E5DF-9FD167AE4B4E}"/>
              </a:ext>
            </a:extLst>
          </p:cNvPr>
          <p:cNvSpPr txBox="1"/>
          <p:nvPr/>
        </p:nvSpPr>
        <p:spPr>
          <a:xfrm>
            <a:off x="6585130" y="3853559"/>
            <a:ext cx="1043045" cy="20596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065" b="1" spc="0" baseline="0">
                <a:ln/>
                <a:solidFill>
                  <a:srgbClr val="7C3AED"/>
                </a:solidFill>
                <a:latin typeface="Arial"/>
                <a:cs typeface="Arial"/>
                <a:sym typeface="Arial"/>
                <a:rtl val="0"/>
              </a:rPr>
              <a:t>HGTConv Layer 3</a:t>
            </a:r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A2B34131-D5DD-230D-1648-3ADA4687BD7E}"/>
              </a:ext>
            </a:extLst>
          </p:cNvPr>
          <p:cNvSpPr txBox="1"/>
          <p:nvPr/>
        </p:nvSpPr>
        <p:spPr>
          <a:xfrm>
            <a:off x="6524324" y="4052984"/>
            <a:ext cx="862637" cy="1825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848" b="1" spc="0" baseline="0">
                <a:ln/>
                <a:solidFill>
                  <a:srgbClr val="0F172A"/>
                </a:solidFill>
                <a:latin typeface="Arial"/>
                <a:cs typeface="Arial"/>
                <a:sym typeface="Arial"/>
                <a:rtl val="0"/>
              </a:rPr>
              <a:t>Input node types:</a:t>
            </a:r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1BB35407-9EC9-AAC1-3387-2FE6C4A4BB1A}"/>
              </a:ext>
            </a:extLst>
          </p:cNvPr>
          <p:cNvSpPr txBox="1"/>
          <p:nvPr/>
        </p:nvSpPr>
        <p:spPr>
          <a:xfrm>
            <a:off x="6567637" y="4199488"/>
            <a:ext cx="1083051" cy="1827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810" spc="0" baseline="0">
                <a:ln/>
                <a:solidFill>
                  <a:srgbClr val="0F172A"/>
                </a:solidFill>
                <a:latin typeface="Consolas"/>
                <a:sym typeface="Consolas"/>
                <a:rtl val="0"/>
              </a:rPr>
              <a:t>operation [n_o, 128] </a:t>
            </a:r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F383B325-2F04-8502-C8D6-89CE6FD9143F}"/>
              </a:ext>
            </a:extLst>
          </p:cNvPr>
          <p:cNvSpPr txBox="1"/>
          <p:nvPr/>
        </p:nvSpPr>
        <p:spPr>
          <a:xfrm>
            <a:off x="6567637" y="4329430"/>
            <a:ext cx="997321" cy="182729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 algn="l"/>
            <a:r>
              <a:rPr lang="en-US" sz="1215" spc="0" baseline="111111">
                <a:ln/>
                <a:solidFill>
                  <a:srgbClr val="0F172A"/>
                </a:solidFill>
                <a:latin typeface="Consolas"/>
                <a:sym typeface="Consolas"/>
                <a:rtl val="0"/>
              </a:rPr>
              <a:t>vehicle [n_v, 128]</a:t>
            </a:r>
            <a:r>
              <a:rPr lang="en-US" sz="810" spc="0" baseline="0">
                <a:ln/>
                <a:solidFill>
                  <a:srgbClr val="0F172A"/>
                </a:solidFill>
                <a:latin typeface="Consolas"/>
                <a:sym typeface="Consolas"/>
                <a:rtl val="0"/>
              </a:rPr>
              <a:t> </a:t>
            </a:r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F673A32F-FF5C-E939-BEE4-617581DCE20C}"/>
              </a:ext>
            </a:extLst>
          </p:cNvPr>
          <p:cNvSpPr txBox="1"/>
          <p:nvPr/>
        </p:nvSpPr>
        <p:spPr>
          <a:xfrm>
            <a:off x="6567637" y="4459371"/>
            <a:ext cx="825859" cy="182729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 algn="l"/>
            <a:r>
              <a:rPr lang="en-US" sz="1215" spc="0" baseline="111111">
                <a:ln/>
                <a:solidFill>
                  <a:srgbClr val="0F172A"/>
                </a:solidFill>
                <a:latin typeface="Consolas"/>
                <a:sym typeface="Consolas"/>
                <a:rtl val="0"/>
              </a:rPr>
              <a:t>zone [n_z, 128]</a:t>
            </a:r>
          </a:p>
        </p:txBody>
      </p:sp>
      <p:sp>
        <p:nvSpPr>
          <p:cNvPr id="185" name="Freeform: Shape 184">
            <a:extLst>
              <a:ext uri="{FF2B5EF4-FFF2-40B4-BE49-F238E27FC236}">
                <a16:creationId xmlns:a16="http://schemas.microsoft.com/office/drawing/2014/main" id="{DC9A3C82-ABA5-9327-BF73-4F1DA3C96005}"/>
              </a:ext>
            </a:extLst>
          </p:cNvPr>
          <p:cNvSpPr/>
          <p:nvPr/>
        </p:nvSpPr>
        <p:spPr>
          <a:xfrm>
            <a:off x="6630202" y="4713972"/>
            <a:ext cx="952901" cy="7218"/>
          </a:xfrm>
          <a:custGeom>
            <a:avLst/>
            <a:gdLst>
              <a:gd name="csX0" fmla="*/ 0 w 952901"/>
              <a:gd name="csY0" fmla="*/ 0 h 7218"/>
              <a:gd name="csX1" fmla="*/ 952901 w 952901"/>
              <a:gd name="csY1" fmla="*/ 0 h 7218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952901" h="7218">
                <a:moveTo>
                  <a:pt x="0" y="0"/>
                </a:moveTo>
                <a:lnTo>
                  <a:pt x="952901" y="0"/>
                </a:lnTo>
              </a:path>
            </a:pathLst>
          </a:custGeom>
          <a:ln w="7215" cap="flat">
            <a:solidFill>
              <a:srgbClr val="CBD5E1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86" name="TextBox 185">
            <a:extLst>
              <a:ext uri="{FF2B5EF4-FFF2-40B4-BE49-F238E27FC236}">
                <a16:creationId xmlns:a16="http://schemas.microsoft.com/office/drawing/2014/main" id="{9AD7055A-3D0E-20CD-F724-2B753EC278EF}"/>
              </a:ext>
            </a:extLst>
          </p:cNvPr>
          <p:cNvSpPr txBox="1"/>
          <p:nvPr/>
        </p:nvSpPr>
        <p:spPr>
          <a:xfrm>
            <a:off x="6524324" y="4759996"/>
            <a:ext cx="1024707" cy="1768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758" b="1" spc="0" baseline="0">
                <a:ln/>
                <a:solidFill>
                  <a:srgbClr val="0F172A"/>
                </a:solidFill>
                <a:latin typeface="Consolas"/>
                <a:sym typeface="Consolas"/>
                <a:rtl val="0"/>
              </a:rPr>
              <a:t>Output: op [n_o, 128]</a:t>
            </a:r>
          </a:p>
        </p:txBody>
      </p:sp>
      <p:sp>
        <p:nvSpPr>
          <p:cNvPr id="187" name="Rectangle: Rounded Corners 186">
            <a:extLst>
              <a:ext uri="{FF2B5EF4-FFF2-40B4-BE49-F238E27FC236}">
                <a16:creationId xmlns:a16="http://schemas.microsoft.com/office/drawing/2014/main" id="{13C5D119-FF28-C126-A18B-912750B9B157}"/>
              </a:ext>
            </a:extLst>
          </p:cNvPr>
          <p:cNvSpPr/>
          <p:nvPr/>
        </p:nvSpPr>
        <p:spPr>
          <a:xfrm>
            <a:off x="7792452" y="1263315"/>
            <a:ext cx="1335505" cy="2057400"/>
          </a:xfrm>
          <a:prstGeom prst="roundRect">
            <a:avLst>
              <a:gd name="adj" fmla="val 3783"/>
            </a:avLst>
          </a:prstGeom>
          <a:solidFill>
            <a:srgbClr val="FFFFFF"/>
          </a:solidFill>
          <a:ln w="10101" cap="flat">
            <a:solidFill>
              <a:srgbClr val="7C3AED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88" name="TextBox 187">
            <a:extLst>
              <a:ext uri="{FF2B5EF4-FFF2-40B4-BE49-F238E27FC236}">
                <a16:creationId xmlns:a16="http://schemas.microsoft.com/office/drawing/2014/main" id="{53CE54EF-0474-5721-698D-E809C8972F90}"/>
              </a:ext>
            </a:extLst>
          </p:cNvPr>
          <p:cNvSpPr txBox="1"/>
          <p:nvPr/>
        </p:nvSpPr>
        <p:spPr>
          <a:xfrm>
            <a:off x="7955841" y="1304617"/>
            <a:ext cx="1008726" cy="2067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073" b="1" spc="0" baseline="0">
                <a:ln/>
                <a:solidFill>
                  <a:srgbClr val="7C3AED"/>
                </a:solidFill>
                <a:latin typeface="Arial"/>
                <a:cs typeface="Arial"/>
                <a:sym typeface="Arial"/>
                <a:rtl val="0"/>
              </a:rPr>
              <a:t>Multi-head Q/K/V</a:t>
            </a:r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C32A4F4A-195E-8CED-30FC-324238A89AFE}"/>
              </a:ext>
            </a:extLst>
          </p:cNvPr>
          <p:cNvSpPr txBox="1"/>
          <p:nvPr/>
        </p:nvSpPr>
        <p:spPr>
          <a:xfrm>
            <a:off x="8050528" y="1441777"/>
            <a:ext cx="819352" cy="2067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073" b="1" spc="0" baseline="0">
                <a:ln/>
                <a:solidFill>
                  <a:srgbClr val="7C3AED"/>
                </a:solidFill>
                <a:latin typeface="Arial"/>
                <a:cs typeface="Arial"/>
                <a:sym typeface="Arial"/>
                <a:rtl val="0"/>
              </a:rPr>
              <a:t>Computation</a:t>
            </a:r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635BB592-3930-C9A5-5871-9722C38884B4}"/>
              </a:ext>
            </a:extLst>
          </p:cNvPr>
          <p:cNvSpPr txBox="1"/>
          <p:nvPr/>
        </p:nvSpPr>
        <p:spPr>
          <a:xfrm>
            <a:off x="8102047" y="1670201"/>
            <a:ext cx="716315" cy="1861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840" spc="0" baseline="0">
                <a:ln/>
                <a:solidFill>
                  <a:srgbClr val="0F172A"/>
                </a:solidFill>
                <a:latin typeface="Consolas"/>
                <a:sym typeface="Consolas"/>
                <a:rtl val="0"/>
              </a:rPr>
              <a:t>h_τ^ℓ [128] </a:t>
            </a:r>
          </a:p>
        </p:txBody>
      </p:sp>
      <p:sp>
        <p:nvSpPr>
          <p:cNvPr id="191" name="TextBox 190">
            <a:extLst>
              <a:ext uri="{FF2B5EF4-FFF2-40B4-BE49-F238E27FC236}">
                <a16:creationId xmlns:a16="http://schemas.microsoft.com/office/drawing/2014/main" id="{D5B8F4FF-BB5B-DAC9-98EC-F55EE74CC95E}"/>
              </a:ext>
            </a:extLst>
          </p:cNvPr>
          <p:cNvSpPr txBox="1"/>
          <p:nvPr/>
        </p:nvSpPr>
        <p:spPr>
          <a:xfrm>
            <a:off x="8324312" y="1814580"/>
            <a:ext cx="271786" cy="186109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 algn="l"/>
            <a:r>
              <a:rPr lang="en-US" sz="1260" spc="0" baseline="119048">
                <a:ln/>
                <a:solidFill>
                  <a:srgbClr val="0F172A"/>
                </a:solidFill>
                <a:latin typeface="Consolas"/>
                <a:sym typeface="Consolas"/>
                <a:rtl val="0"/>
              </a:rPr>
              <a:t>↓</a:t>
            </a:r>
            <a:r>
              <a:rPr lang="en-US" sz="840" spc="0" baseline="0">
                <a:ln/>
                <a:solidFill>
                  <a:srgbClr val="0F172A"/>
                </a:solidFill>
                <a:latin typeface="Consolas"/>
                <a:sym typeface="Consolas"/>
                <a:rtl val="0"/>
              </a:rPr>
              <a:t> </a:t>
            </a:r>
          </a:p>
        </p:txBody>
      </p:sp>
      <p:sp>
        <p:nvSpPr>
          <p:cNvPr id="192" name="TextBox 191">
            <a:extLst>
              <a:ext uri="{FF2B5EF4-FFF2-40B4-BE49-F238E27FC236}">
                <a16:creationId xmlns:a16="http://schemas.microsoft.com/office/drawing/2014/main" id="{F3396BFF-385F-8174-4629-EAA10319ABF1}"/>
              </a:ext>
            </a:extLst>
          </p:cNvPr>
          <p:cNvSpPr txBox="1"/>
          <p:nvPr/>
        </p:nvSpPr>
        <p:spPr>
          <a:xfrm>
            <a:off x="7990915" y="1958959"/>
            <a:ext cx="938580" cy="186109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 algn="l"/>
            <a:r>
              <a:rPr lang="en-US" sz="1260" spc="0" baseline="119048">
                <a:ln/>
                <a:solidFill>
                  <a:srgbClr val="0F172A"/>
                </a:solidFill>
                <a:latin typeface="Consolas"/>
                <a:sym typeface="Consolas"/>
                <a:rtl val="0"/>
              </a:rPr>
              <a:t>Linear(128, 384)</a:t>
            </a:r>
            <a:r>
              <a:rPr lang="en-US" sz="840" spc="0" baseline="0">
                <a:ln/>
                <a:solidFill>
                  <a:srgbClr val="0F172A"/>
                </a:solidFill>
                <a:latin typeface="Consolas"/>
                <a:sym typeface="Consolas"/>
                <a:rtl val="0"/>
              </a:rPr>
              <a:t> </a:t>
            </a:r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10D77582-6A18-4EB9-3EFB-1F8BFA3AF2C8}"/>
              </a:ext>
            </a:extLst>
          </p:cNvPr>
          <p:cNvSpPr txBox="1"/>
          <p:nvPr/>
        </p:nvSpPr>
        <p:spPr>
          <a:xfrm>
            <a:off x="8324312" y="2103338"/>
            <a:ext cx="271786" cy="186109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 algn="l"/>
            <a:r>
              <a:rPr lang="en-US" sz="1260" spc="0" baseline="119048">
                <a:ln/>
                <a:solidFill>
                  <a:srgbClr val="0F172A"/>
                </a:solidFill>
                <a:latin typeface="Consolas"/>
                <a:sym typeface="Consolas"/>
                <a:rtl val="0"/>
              </a:rPr>
              <a:t>↓</a:t>
            </a:r>
            <a:r>
              <a:rPr lang="en-US" sz="840" spc="0" baseline="0">
                <a:ln/>
                <a:solidFill>
                  <a:srgbClr val="0F172A"/>
                </a:solidFill>
                <a:latin typeface="Consolas"/>
                <a:sym typeface="Consolas"/>
                <a:rtl val="0"/>
              </a:rPr>
              <a:t> </a:t>
            </a:r>
          </a:p>
        </p:txBody>
      </p:sp>
      <p:sp>
        <p:nvSpPr>
          <p:cNvPr id="194" name="TextBox 193">
            <a:extLst>
              <a:ext uri="{FF2B5EF4-FFF2-40B4-BE49-F238E27FC236}">
                <a16:creationId xmlns:a16="http://schemas.microsoft.com/office/drawing/2014/main" id="{58C711AE-EEBB-C35B-BDFA-537ED5629B85}"/>
              </a:ext>
            </a:extLst>
          </p:cNvPr>
          <p:cNvSpPr txBox="1"/>
          <p:nvPr/>
        </p:nvSpPr>
        <p:spPr>
          <a:xfrm>
            <a:off x="7946462" y="2247716"/>
            <a:ext cx="1027486" cy="186109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 algn="l"/>
            <a:r>
              <a:rPr lang="en-US" sz="1260" spc="0" baseline="119048">
                <a:ln/>
                <a:solidFill>
                  <a:srgbClr val="0F172A"/>
                </a:solidFill>
                <a:latin typeface="Consolas"/>
                <a:sym typeface="Consolas"/>
                <a:rtl val="0"/>
              </a:rPr>
              <a:t>split into K, Q, V</a:t>
            </a:r>
            <a:r>
              <a:rPr lang="en-US" sz="840" spc="0" baseline="0">
                <a:ln/>
                <a:solidFill>
                  <a:srgbClr val="0F172A"/>
                </a:solidFill>
                <a:latin typeface="Consolas"/>
                <a:sym typeface="Consolas"/>
                <a:rtl val="0"/>
              </a:rPr>
              <a:t> </a:t>
            </a:r>
          </a:p>
        </p:txBody>
      </p:sp>
      <p:sp>
        <p:nvSpPr>
          <p:cNvPr id="195" name="TextBox 194">
            <a:extLst>
              <a:ext uri="{FF2B5EF4-FFF2-40B4-BE49-F238E27FC236}">
                <a16:creationId xmlns:a16="http://schemas.microsoft.com/office/drawing/2014/main" id="{28D35A23-543A-BC24-735D-1F3EC1A74FD9}"/>
              </a:ext>
            </a:extLst>
          </p:cNvPr>
          <p:cNvSpPr txBox="1"/>
          <p:nvPr/>
        </p:nvSpPr>
        <p:spPr>
          <a:xfrm>
            <a:off x="8324312" y="2392095"/>
            <a:ext cx="271786" cy="186109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 algn="l"/>
            <a:r>
              <a:rPr lang="en-US" sz="1260" spc="0" baseline="119048">
                <a:ln/>
                <a:solidFill>
                  <a:srgbClr val="0F172A"/>
                </a:solidFill>
                <a:latin typeface="Consolas"/>
                <a:sym typeface="Consolas"/>
                <a:rtl val="0"/>
              </a:rPr>
              <a:t>↓</a:t>
            </a:r>
            <a:r>
              <a:rPr lang="en-US" sz="840" spc="0" baseline="0">
                <a:ln/>
                <a:solidFill>
                  <a:srgbClr val="0F172A"/>
                </a:solidFill>
                <a:latin typeface="Consolas"/>
                <a:sym typeface="Consolas"/>
                <a:rtl val="0"/>
              </a:rPr>
              <a:t> </a:t>
            </a:r>
          </a:p>
        </p:txBody>
      </p:sp>
      <p:sp>
        <p:nvSpPr>
          <p:cNvPr id="196" name="TextBox 195">
            <a:extLst>
              <a:ext uri="{FF2B5EF4-FFF2-40B4-BE49-F238E27FC236}">
                <a16:creationId xmlns:a16="http://schemas.microsoft.com/office/drawing/2014/main" id="{FC7D1F5F-FBA6-2034-7181-491F00FE7448}"/>
              </a:ext>
            </a:extLst>
          </p:cNvPr>
          <p:cNvSpPr txBox="1"/>
          <p:nvPr/>
        </p:nvSpPr>
        <p:spPr>
          <a:xfrm>
            <a:off x="7857556" y="2536474"/>
            <a:ext cx="1205296" cy="186109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 algn="l"/>
            <a:r>
              <a:rPr lang="en-US" sz="1260" spc="0" baseline="119048">
                <a:ln/>
                <a:solidFill>
                  <a:srgbClr val="0F172A"/>
                </a:solidFill>
                <a:latin typeface="Consolas"/>
                <a:sym typeface="Consolas"/>
                <a:rtl val="0"/>
              </a:rPr>
              <a:t>reshape → [4 heads, 32]</a:t>
            </a:r>
          </a:p>
        </p:txBody>
      </p:sp>
      <p:sp>
        <p:nvSpPr>
          <p:cNvPr id="197" name="Rectangle: Rounded Corners 196">
            <a:extLst>
              <a:ext uri="{FF2B5EF4-FFF2-40B4-BE49-F238E27FC236}">
                <a16:creationId xmlns:a16="http://schemas.microsoft.com/office/drawing/2014/main" id="{C2AC7862-53C5-E7FD-FC99-8773E983CF9D}"/>
              </a:ext>
            </a:extLst>
          </p:cNvPr>
          <p:cNvSpPr/>
          <p:nvPr/>
        </p:nvSpPr>
        <p:spPr>
          <a:xfrm>
            <a:off x="7879080" y="2728762"/>
            <a:ext cx="1162250" cy="346509"/>
          </a:xfrm>
          <a:prstGeom prst="roundRect">
            <a:avLst>
              <a:gd name="adj" fmla="val 8333"/>
            </a:avLst>
          </a:prstGeom>
          <a:solidFill>
            <a:srgbClr val="F1F5F9"/>
          </a:solidFill>
          <a:ln w="7215" cap="flat">
            <a:solidFill>
              <a:srgbClr val="CBD5E1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98" name="TextBox 197">
            <a:extLst>
              <a:ext uri="{FF2B5EF4-FFF2-40B4-BE49-F238E27FC236}">
                <a16:creationId xmlns:a16="http://schemas.microsoft.com/office/drawing/2014/main" id="{E081A616-7A2F-5724-4BBA-C4C94001D30F}"/>
              </a:ext>
            </a:extLst>
          </p:cNvPr>
          <p:cNvSpPr txBox="1"/>
          <p:nvPr/>
        </p:nvSpPr>
        <p:spPr>
          <a:xfrm>
            <a:off x="8092975" y="2767419"/>
            <a:ext cx="734459" cy="1592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705" spc="0" baseline="0">
                <a:ln/>
                <a:solidFill>
                  <a:srgbClr val="0F172A"/>
                </a:solidFill>
                <a:latin typeface="Cambria Math"/>
                <a:ea typeface="Cambria Math"/>
                <a:sym typeface="Cambria Math"/>
                <a:rtl val="0"/>
              </a:rPr>
              <a:t>[K_τ ∥ Q_τ ∥ V_τ] = </a:t>
            </a:r>
          </a:p>
        </p:txBody>
      </p:sp>
      <p:sp>
        <p:nvSpPr>
          <p:cNvPr id="199" name="TextBox 198">
            <a:extLst>
              <a:ext uri="{FF2B5EF4-FFF2-40B4-BE49-F238E27FC236}">
                <a16:creationId xmlns:a16="http://schemas.microsoft.com/office/drawing/2014/main" id="{EE1BDBC2-3094-BD28-4CA4-54148CE7E2C4}"/>
              </a:ext>
            </a:extLst>
          </p:cNvPr>
          <p:cNvSpPr txBox="1"/>
          <p:nvPr/>
        </p:nvSpPr>
        <p:spPr>
          <a:xfrm>
            <a:off x="7963638" y="2890142"/>
            <a:ext cx="993134" cy="159298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 algn="l"/>
            <a:r>
              <a:rPr lang="en-US" sz="1058" spc="0" baseline="120567">
                <a:ln/>
                <a:solidFill>
                  <a:srgbClr val="0F172A"/>
                </a:solidFill>
                <a:latin typeface="Cambria Math"/>
                <a:ea typeface="Cambria Math"/>
                <a:sym typeface="Cambria Math"/>
                <a:rtl val="0"/>
              </a:rPr>
              <a:t>H_τ^ℓ W_KQV^τ + b_KQV^τ</a:t>
            </a:r>
          </a:p>
        </p:txBody>
      </p:sp>
      <p:sp>
        <p:nvSpPr>
          <p:cNvPr id="200" name="TextBox 199">
            <a:extLst>
              <a:ext uri="{FF2B5EF4-FFF2-40B4-BE49-F238E27FC236}">
                <a16:creationId xmlns:a16="http://schemas.microsoft.com/office/drawing/2014/main" id="{2EDDBC53-0E6B-2393-9E4A-7FDDF96336F2}"/>
              </a:ext>
            </a:extLst>
          </p:cNvPr>
          <p:cNvSpPr txBox="1"/>
          <p:nvPr/>
        </p:nvSpPr>
        <p:spPr>
          <a:xfrm>
            <a:off x="7885095" y="3081295"/>
            <a:ext cx="1146902" cy="1879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855" b="1" spc="0" baseline="0">
                <a:ln/>
                <a:solidFill>
                  <a:srgbClr val="0F172A"/>
                </a:solidFill>
                <a:latin typeface="Cambria Math"/>
                <a:ea typeface="Cambria Math"/>
                <a:sym typeface="Cambria Math"/>
                <a:rtl val="0"/>
              </a:rPr>
              <a:t>F = 128, H = 4, d_h = 32</a:t>
            </a:r>
          </a:p>
        </p:txBody>
      </p:sp>
      <p:sp>
        <p:nvSpPr>
          <p:cNvPr id="201" name="Rectangle: Rounded Corners 200">
            <a:extLst>
              <a:ext uri="{FF2B5EF4-FFF2-40B4-BE49-F238E27FC236}">
                <a16:creationId xmlns:a16="http://schemas.microsoft.com/office/drawing/2014/main" id="{2B7BC00E-F395-9651-1370-6BA4DF5378AC}"/>
              </a:ext>
            </a:extLst>
          </p:cNvPr>
          <p:cNvSpPr/>
          <p:nvPr/>
        </p:nvSpPr>
        <p:spPr>
          <a:xfrm>
            <a:off x="7792452" y="3429000"/>
            <a:ext cx="1335505" cy="1804736"/>
          </a:xfrm>
          <a:prstGeom prst="roundRect">
            <a:avLst>
              <a:gd name="adj" fmla="val 3783"/>
            </a:avLst>
          </a:prstGeom>
          <a:solidFill>
            <a:srgbClr val="FFFFFF"/>
          </a:solidFill>
          <a:ln w="10101" cap="flat">
            <a:solidFill>
              <a:srgbClr val="7C3AED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02" name="TextBox 201">
            <a:extLst>
              <a:ext uri="{FF2B5EF4-FFF2-40B4-BE49-F238E27FC236}">
                <a16:creationId xmlns:a16="http://schemas.microsoft.com/office/drawing/2014/main" id="{7ADA83FC-B0E9-8085-2E92-6CE46DEB80FD}"/>
              </a:ext>
            </a:extLst>
          </p:cNvPr>
          <p:cNvSpPr txBox="1"/>
          <p:nvPr/>
        </p:nvSpPr>
        <p:spPr>
          <a:xfrm>
            <a:off x="7771188" y="3471608"/>
            <a:ext cx="1378033" cy="2051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058" b="1" spc="0" baseline="0">
                <a:ln/>
                <a:solidFill>
                  <a:srgbClr val="7C3AED"/>
                </a:solidFill>
                <a:latin typeface="Arial"/>
                <a:cs typeface="Arial"/>
                <a:sym typeface="Arial"/>
                <a:rtl val="0"/>
              </a:rPr>
              <a:t>Relation-aware Attention</a:t>
            </a:r>
          </a:p>
        </p:txBody>
      </p:sp>
      <p:sp>
        <p:nvSpPr>
          <p:cNvPr id="203" name="TextBox 202">
            <a:extLst>
              <a:ext uri="{FF2B5EF4-FFF2-40B4-BE49-F238E27FC236}">
                <a16:creationId xmlns:a16="http://schemas.microsoft.com/office/drawing/2014/main" id="{CF7E3827-BA21-666D-AACB-3DA31DC77DBD}"/>
              </a:ext>
            </a:extLst>
          </p:cNvPr>
          <p:cNvSpPr txBox="1"/>
          <p:nvPr/>
        </p:nvSpPr>
        <p:spPr>
          <a:xfrm>
            <a:off x="7794858" y="3734116"/>
            <a:ext cx="748504" cy="1694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810" spc="0" baseline="0">
                <a:ln/>
                <a:solidFill>
                  <a:srgbClr val="0F172A"/>
                </a:solidFill>
                <a:latin typeface="Cambria Math"/>
                <a:ea typeface="Cambria Math"/>
                <a:sym typeface="Cambria Math"/>
                <a:rtl val="0"/>
              </a:rPr>
              <a:t>Q_v = Q_{τ_t}(v) </a:t>
            </a:r>
          </a:p>
        </p:txBody>
      </p:sp>
      <p:sp>
        <p:nvSpPr>
          <p:cNvPr id="204" name="TextBox 203">
            <a:extLst>
              <a:ext uri="{FF2B5EF4-FFF2-40B4-BE49-F238E27FC236}">
                <a16:creationId xmlns:a16="http://schemas.microsoft.com/office/drawing/2014/main" id="{D8B15E6D-B48C-8C0D-C196-AD1BABDBEBF9}"/>
              </a:ext>
            </a:extLst>
          </p:cNvPr>
          <p:cNvSpPr txBox="1"/>
          <p:nvPr/>
        </p:nvSpPr>
        <p:spPr>
          <a:xfrm>
            <a:off x="7794858" y="3907371"/>
            <a:ext cx="1077227" cy="169404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 algn="l"/>
            <a:r>
              <a:rPr lang="en-US" sz="1215" spc="0" baseline="148148">
                <a:ln/>
                <a:solidFill>
                  <a:srgbClr val="0F172A"/>
                </a:solidFill>
                <a:latin typeface="Cambria Math"/>
                <a:ea typeface="Cambria Math"/>
                <a:sym typeface="Cambria Math"/>
                <a:rtl val="0"/>
              </a:rPr>
              <a:t>K_u^r = W_K^r K_{τ_s}(u)</a:t>
            </a:r>
            <a:r>
              <a:rPr lang="en-US" sz="810" spc="0" baseline="0">
                <a:ln/>
                <a:solidFill>
                  <a:srgbClr val="0F172A"/>
                </a:solidFill>
                <a:latin typeface="Cambria Math"/>
                <a:ea typeface="Cambria Math"/>
                <a:sym typeface="Cambria Math"/>
                <a:rtl val="0"/>
              </a:rPr>
              <a:t> </a:t>
            </a:r>
          </a:p>
        </p:txBody>
      </p:sp>
      <p:sp>
        <p:nvSpPr>
          <p:cNvPr id="205" name="TextBox 204">
            <a:extLst>
              <a:ext uri="{FF2B5EF4-FFF2-40B4-BE49-F238E27FC236}">
                <a16:creationId xmlns:a16="http://schemas.microsoft.com/office/drawing/2014/main" id="{8DE2421E-8FDF-1036-BC77-323F79A1F746}"/>
              </a:ext>
            </a:extLst>
          </p:cNvPr>
          <p:cNvSpPr txBox="1"/>
          <p:nvPr/>
        </p:nvSpPr>
        <p:spPr>
          <a:xfrm>
            <a:off x="7794858" y="4080626"/>
            <a:ext cx="1054005" cy="169404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 algn="l"/>
            <a:r>
              <a:rPr lang="en-US" sz="1215" spc="0" baseline="148148">
                <a:ln/>
                <a:solidFill>
                  <a:srgbClr val="0F172A"/>
                </a:solidFill>
                <a:latin typeface="Cambria Math"/>
                <a:ea typeface="Cambria Math"/>
                <a:sym typeface="Cambria Math"/>
                <a:rtl val="0"/>
              </a:rPr>
              <a:t>V_u^r = W_V^r V_{τ_s}(u)</a:t>
            </a:r>
          </a:p>
        </p:txBody>
      </p:sp>
      <p:sp>
        <p:nvSpPr>
          <p:cNvPr id="206" name="Freeform: Shape 205">
            <a:extLst>
              <a:ext uri="{FF2B5EF4-FFF2-40B4-BE49-F238E27FC236}">
                <a16:creationId xmlns:a16="http://schemas.microsoft.com/office/drawing/2014/main" id="{3B5E9C6F-1F51-E091-B98F-2858E84B4CA4}"/>
              </a:ext>
            </a:extLst>
          </p:cNvPr>
          <p:cNvSpPr/>
          <p:nvPr/>
        </p:nvSpPr>
        <p:spPr>
          <a:xfrm>
            <a:off x="7886298" y="4316930"/>
            <a:ext cx="1147812" cy="7218"/>
          </a:xfrm>
          <a:custGeom>
            <a:avLst/>
            <a:gdLst>
              <a:gd name="csX0" fmla="*/ 0 w 1147812"/>
              <a:gd name="csY0" fmla="*/ 0 h 7218"/>
              <a:gd name="csX1" fmla="*/ 1147813 w 1147812"/>
              <a:gd name="csY1" fmla="*/ 0 h 7218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147812" h="7218">
                <a:moveTo>
                  <a:pt x="0" y="0"/>
                </a:moveTo>
                <a:lnTo>
                  <a:pt x="1147813" y="0"/>
                </a:lnTo>
              </a:path>
            </a:pathLst>
          </a:custGeom>
          <a:ln w="7215" cap="flat">
            <a:solidFill>
              <a:srgbClr val="CBD5E1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07" name="TextBox 206">
            <a:extLst>
              <a:ext uri="{FF2B5EF4-FFF2-40B4-BE49-F238E27FC236}">
                <a16:creationId xmlns:a16="http://schemas.microsoft.com/office/drawing/2014/main" id="{27703713-B042-DDE9-1A50-81A1385DB3BA}"/>
              </a:ext>
            </a:extLst>
          </p:cNvPr>
          <p:cNvSpPr txBox="1"/>
          <p:nvPr/>
        </p:nvSpPr>
        <p:spPr>
          <a:xfrm>
            <a:off x="7794858" y="4401067"/>
            <a:ext cx="1214230" cy="1657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773" spc="0" baseline="0">
                <a:ln/>
                <a:solidFill>
                  <a:srgbClr val="0F172A"/>
                </a:solidFill>
                <a:latin typeface="Cambria Math"/>
                <a:ea typeface="Cambria Math"/>
                <a:sym typeface="Cambria Math"/>
                <a:rtl val="0"/>
              </a:rPr>
              <a:t>score(u,v,r) = Q_v · K_u^r / √32 </a:t>
            </a:r>
          </a:p>
        </p:txBody>
      </p:sp>
      <p:sp>
        <p:nvSpPr>
          <p:cNvPr id="208" name="TextBox 207">
            <a:extLst>
              <a:ext uri="{FF2B5EF4-FFF2-40B4-BE49-F238E27FC236}">
                <a16:creationId xmlns:a16="http://schemas.microsoft.com/office/drawing/2014/main" id="{BFE1D37A-60C3-0561-9015-1055EA4847BE}"/>
              </a:ext>
            </a:extLst>
          </p:cNvPr>
          <p:cNvSpPr txBox="1"/>
          <p:nvPr/>
        </p:nvSpPr>
        <p:spPr>
          <a:xfrm>
            <a:off x="7794858" y="4567103"/>
            <a:ext cx="1016797" cy="165795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 algn="l"/>
            <a:r>
              <a:rPr lang="en-US" sz="1160" spc="0" baseline="148771">
                <a:ln/>
                <a:solidFill>
                  <a:srgbClr val="0F172A"/>
                </a:solidFill>
                <a:latin typeface="Cambria Math"/>
                <a:ea typeface="Cambria Math"/>
                <a:sym typeface="Cambria Math"/>
                <a:rtl val="0"/>
              </a:rPr>
              <a:t>α(u,v,r) = softmax(score)</a:t>
            </a:r>
            <a:r>
              <a:rPr lang="en-US" sz="773" spc="0" baseline="0">
                <a:ln/>
                <a:solidFill>
                  <a:srgbClr val="0F172A"/>
                </a:solidFill>
                <a:latin typeface="Cambria Math"/>
                <a:ea typeface="Cambria Math"/>
                <a:sym typeface="Cambria Math"/>
                <a:rtl val="0"/>
              </a:rPr>
              <a:t> </a:t>
            </a:r>
          </a:p>
        </p:txBody>
      </p:sp>
      <p:sp>
        <p:nvSpPr>
          <p:cNvPr id="209" name="TextBox 208">
            <a:extLst>
              <a:ext uri="{FF2B5EF4-FFF2-40B4-BE49-F238E27FC236}">
                <a16:creationId xmlns:a16="http://schemas.microsoft.com/office/drawing/2014/main" id="{25F1927D-D45F-48AC-8560-F1B74B398241}"/>
              </a:ext>
            </a:extLst>
          </p:cNvPr>
          <p:cNvSpPr txBox="1"/>
          <p:nvPr/>
        </p:nvSpPr>
        <p:spPr>
          <a:xfrm>
            <a:off x="7794858" y="4733139"/>
            <a:ext cx="824374" cy="165795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 algn="l"/>
            <a:r>
              <a:rPr lang="en-US" sz="1160" spc="0" baseline="148771">
                <a:ln/>
                <a:solidFill>
                  <a:srgbClr val="0F172A"/>
                </a:solidFill>
                <a:latin typeface="Cambria Math"/>
                <a:ea typeface="Cambria Math"/>
                <a:sym typeface="Cambria Math"/>
                <a:rtl val="0"/>
              </a:rPr>
              <a:t>message = α · V_u^r</a:t>
            </a:r>
          </a:p>
        </p:txBody>
      </p:sp>
      <p:sp>
        <p:nvSpPr>
          <p:cNvPr id="210" name="TextBox 209">
            <a:extLst>
              <a:ext uri="{FF2B5EF4-FFF2-40B4-BE49-F238E27FC236}">
                <a16:creationId xmlns:a16="http://schemas.microsoft.com/office/drawing/2014/main" id="{71E7FCD3-496C-304E-7E73-25419FB69E29}"/>
              </a:ext>
            </a:extLst>
          </p:cNvPr>
          <p:cNvSpPr txBox="1"/>
          <p:nvPr/>
        </p:nvSpPr>
        <p:spPr>
          <a:xfrm>
            <a:off x="7790748" y="4932358"/>
            <a:ext cx="1338912" cy="175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780" spc="0" baseline="0">
                <a:ln/>
                <a:solidFill>
                  <a:srgbClr val="475569"/>
                </a:solidFill>
                <a:latin typeface="Arial"/>
                <a:cs typeface="Arial"/>
                <a:sym typeface="Arial"/>
                <a:rtl val="0"/>
              </a:rPr>
              <a:t>Aggregate over seq, lane, conflict, </a:t>
            </a:r>
          </a:p>
        </p:txBody>
      </p:sp>
      <p:sp>
        <p:nvSpPr>
          <p:cNvPr id="211" name="TextBox 210">
            <a:extLst>
              <a:ext uri="{FF2B5EF4-FFF2-40B4-BE49-F238E27FC236}">
                <a16:creationId xmlns:a16="http://schemas.microsoft.com/office/drawing/2014/main" id="{53DE8596-98B3-1CE8-DF1B-607D2007922B}"/>
              </a:ext>
            </a:extLst>
          </p:cNvPr>
          <p:cNvSpPr txBox="1"/>
          <p:nvPr/>
        </p:nvSpPr>
        <p:spPr>
          <a:xfrm>
            <a:off x="7934744" y="5040643"/>
            <a:ext cx="1050921" cy="175315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 algn="l"/>
            <a:r>
              <a:rPr lang="en-US" sz="1170" spc="0" baseline="96154">
                <a:ln/>
                <a:solidFill>
                  <a:srgbClr val="475569"/>
                </a:solidFill>
                <a:latin typeface="Arial"/>
                <a:cs typeface="Arial"/>
                <a:sym typeface="Arial"/>
                <a:rtl val="0"/>
              </a:rPr>
              <a:t>owns, and hosts relations.</a:t>
            </a:r>
          </a:p>
        </p:txBody>
      </p:sp>
      <p:sp>
        <p:nvSpPr>
          <p:cNvPr id="212" name="Rectangle: Rounded Corners 211">
            <a:extLst>
              <a:ext uri="{FF2B5EF4-FFF2-40B4-BE49-F238E27FC236}">
                <a16:creationId xmlns:a16="http://schemas.microsoft.com/office/drawing/2014/main" id="{75A0DE05-20CF-BBFE-BB25-FCD6E0F12334}"/>
              </a:ext>
            </a:extLst>
          </p:cNvPr>
          <p:cNvSpPr/>
          <p:nvPr/>
        </p:nvSpPr>
        <p:spPr>
          <a:xfrm>
            <a:off x="6529136" y="5125452"/>
            <a:ext cx="1155031" cy="324852"/>
          </a:xfrm>
          <a:prstGeom prst="roundRect">
            <a:avLst>
              <a:gd name="adj" fmla="val 11111"/>
            </a:avLst>
          </a:prstGeom>
          <a:solidFill>
            <a:srgbClr val="F1F5F9"/>
          </a:solidFill>
          <a:ln w="7215" cap="flat">
            <a:solidFill>
              <a:srgbClr val="CBD5E1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13" name="TextBox 212">
            <a:extLst>
              <a:ext uri="{FF2B5EF4-FFF2-40B4-BE49-F238E27FC236}">
                <a16:creationId xmlns:a16="http://schemas.microsoft.com/office/drawing/2014/main" id="{E6316318-FCFF-CAB6-F045-E52A2DC99882}"/>
              </a:ext>
            </a:extLst>
          </p:cNvPr>
          <p:cNvSpPr txBox="1"/>
          <p:nvPr/>
        </p:nvSpPr>
        <p:spPr>
          <a:xfrm>
            <a:off x="6472443" y="5145629"/>
            <a:ext cx="1268418" cy="1704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735" spc="0" baseline="0">
                <a:ln/>
                <a:solidFill>
                  <a:srgbClr val="475569"/>
                </a:solidFill>
                <a:latin typeface="Arial"/>
                <a:cs typeface="Arial"/>
                <a:sym typeface="Arial"/>
                <a:rtl val="0"/>
              </a:rPr>
              <a:t>Vehicle and zone embeddings are </a:t>
            </a:r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id="{7FDC056D-CE42-18B2-015C-32D2A273CEC5}"/>
              </a:ext>
            </a:extLst>
          </p:cNvPr>
          <p:cNvSpPr txBox="1"/>
          <p:nvPr/>
        </p:nvSpPr>
        <p:spPr>
          <a:xfrm>
            <a:off x="6417535" y="5246694"/>
            <a:ext cx="1378233" cy="170476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 algn="l"/>
            <a:r>
              <a:rPr lang="en-US" sz="1102" spc="0" baseline="95238">
                <a:ln/>
                <a:solidFill>
                  <a:srgbClr val="475569"/>
                </a:solidFill>
                <a:latin typeface="Arial"/>
                <a:cs typeface="Arial"/>
                <a:sym typeface="Arial"/>
                <a:rtl val="0"/>
              </a:rPr>
              <a:t>carried forward as contextual sources.</a:t>
            </a:r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0DD3AD54-115C-13AF-8D7B-D30FA0423FE3}"/>
              </a:ext>
            </a:extLst>
          </p:cNvPr>
          <p:cNvSpPr txBox="1"/>
          <p:nvPr/>
        </p:nvSpPr>
        <p:spPr>
          <a:xfrm>
            <a:off x="6706475" y="5352365"/>
            <a:ext cx="2244143" cy="17370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765" spc="0" baseline="0">
                <a:ln/>
                <a:solidFill>
                  <a:srgbClr val="DC2626"/>
                </a:solidFill>
                <a:latin typeface="Arial"/>
                <a:cs typeface="Arial"/>
                <a:sym typeface="Arial"/>
                <a:rtl val="0"/>
              </a:rPr>
              <a:t>No explicit edge-feature φ(e_uv) term is passed into HGTConv.</a:t>
            </a:r>
          </a:p>
        </p:txBody>
      </p:sp>
      <p:sp>
        <p:nvSpPr>
          <p:cNvPr id="216" name="Rectangle: Rounded Corners 215">
            <a:extLst>
              <a:ext uri="{FF2B5EF4-FFF2-40B4-BE49-F238E27FC236}">
                <a16:creationId xmlns:a16="http://schemas.microsoft.com/office/drawing/2014/main" id="{543D504B-77CF-34E0-4B58-8C245BA8DF80}"/>
              </a:ext>
            </a:extLst>
          </p:cNvPr>
          <p:cNvSpPr/>
          <p:nvPr/>
        </p:nvSpPr>
        <p:spPr>
          <a:xfrm>
            <a:off x="9416715" y="721894"/>
            <a:ext cx="2273968" cy="757989"/>
          </a:xfrm>
          <a:prstGeom prst="roundRect">
            <a:avLst>
              <a:gd name="adj" fmla="val 7619"/>
            </a:avLst>
          </a:prstGeom>
          <a:solidFill>
            <a:srgbClr val="EFF6FF"/>
          </a:solidFill>
          <a:ln w="12987" cap="flat">
            <a:solidFill>
              <a:srgbClr val="2563EB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17" name="TextBox 216">
            <a:extLst>
              <a:ext uri="{FF2B5EF4-FFF2-40B4-BE49-F238E27FC236}">
                <a16:creationId xmlns:a16="http://schemas.microsoft.com/office/drawing/2014/main" id="{BF3DD022-2DD2-E523-4F45-A6BB7C72C268}"/>
              </a:ext>
            </a:extLst>
          </p:cNvPr>
          <p:cNvSpPr txBox="1"/>
          <p:nvPr/>
        </p:nvSpPr>
        <p:spPr>
          <a:xfrm>
            <a:off x="9626994" y="767208"/>
            <a:ext cx="1853410" cy="2285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275" b="1" spc="0" baseline="0">
                <a:ln/>
                <a:solidFill>
                  <a:srgbClr val="2563EB"/>
                </a:solidFill>
                <a:latin typeface="Arial"/>
                <a:cs typeface="Arial"/>
                <a:sym typeface="Arial"/>
                <a:rtl val="0"/>
              </a:rPr>
              <a:t>Final Operation Embeddings</a:t>
            </a:r>
          </a:p>
        </p:txBody>
      </p:sp>
      <p:sp>
        <p:nvSpPr>
          <p:cNvPr id="218" name="TextBox 217">
            <a:extLst>
              <a:ext uri="{FF2B5EF4-FFF2-40B4-BE49-F238E27FC236}">
                <a16:creationId xmlns:a16="http://schemas.microsoft.com/office/drawing/2014/main" id="{8A4652EC-8F5F-28D8-F4B6-F6765642717B}"/>
              </a:ext>
            </a:extLst>
          </p:cNvPr>
          <p:cNvSpPr txBox="1"/>
          <p:nvPr/>
        </p:nvSpPr>
        <p:spPr>
          <a:xfrm>
            <a:off x="9906401" y="978623"/>
            <a:ext cx="1292363" cy="2437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350" b="1" spc="0" baseline="0">
                <a:ln/>
                <a:solidFill>
                  <a:srgbClr val="0F172A"/>
                </a:solidFill>
                <a:latin typeface="Cambria Math"/>
                <a:ea typeface="Cambria Math"/>
                <a:sym typeface="Cambria Math"/>
                <a:rtl val="0"/>
              </a:rPr>
              <a:t>H_op^L ∈ Rⁿᵒ×¹²⁸</a:t>
            </a:r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864C1B91-3B6F-0B62-D444-18F7BDCFB42D}"/>
              </a:ext>
            </a:extLst>
          </p:cNvPr>
          <p:cNvSpPr txBox="1"/>
          <p:nvPr/>
        </p:nvSpPr>
        <p:spPr>
          <a:xfrm>
            <a:off x="9722943" y="1210056"/>
            <a:ext cx="1661512" cy="189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915" spc="0" baseline="0">
                <a:ln/>
                <a:solidFill>
                  <a:srgbClr val="475569"/>
                </a:solidFill>
                <a:latin typeface="Arial"/>
                <a:cs typeface="Arial"/>
                <a:sym typeface="Arial"/>
                <a:rtl val="0"/>
              </a:rPr>
              <a:t>One embedding per operation / action</a:t>
            </a:r>
          </a:p>
        </p:txBody>
      </p:sp>
      <p:sp>
        <p:nvSpPr>
          <p:cNvPr id="220" name="Freeform: Shape 219">
            <a:extLst>
              <a:ext uri="{FF2B5EF4-FFF2-40B4-BE49-F238E27FC236}">
                <a16:creationId xmlns:a16="http://schemas.microsoft.com/office/drawing/2014/main" id="{C51D3525-EE8C-50C1-2F10-02B3E6FACAD1}"/>
              </a:ext>
            </a:extLst>
          </p:cNvPr>
          <p:cNvSpPr/>
          <p:nvPr/>
        </p:nvSpPr>
        <p:spPr>
          <a:xfrm>
            <a:off x="10553700" y="1479884"/>
            <a:ext cx="7218" cy="101065"/>
          </a:xfrm>
          <a:custGeom>
            <a:avLst/>
            <a:gdLst>
              <a:gd name="csX0" fmla="*/ 0 w 7218"/>
              <a:gd name="csY0" fmla="*/ 0 h 101065"/>
              <a:gd name="csX1" fmla="*/ 0 w 7218"/>
              <a:gd name="csY1" fmla="*/ 101065 h 10106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7218" h="101065">
                <a:moveTo>
                  <a:pt x="0" y="0"/>
                </a:moveTo>
                <a:lnTo>
                  <a:pt x="0" y="101065"/>
                </a:lnTo>
              </a:path>
            </a:pathLst>
          </a:custGeom>
          <a:ln w="15873" cap="flat">
            <a:solidFill>
              <a:srgbClr val="475569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21" name="Oval 220">
            <a:extLst>
              <a:ext uri="{FF2B5EF4-FFF2-40B4-BE49-F238E27FC236}">
                <a16:creationId xmlns:a16="http://schemas.microsoft.com/office/drawing/2014/main" id="{B0D87A3B-8FCF-1543-9B0D-2F21D55AAA42}"/>
              </a:ext>
            </a:extLst>
          </p:cNvPr>
          <p:cNvSpPr/>
          <p:nvPr/>
        </p:nvSpPr>
        <p:spPr>
          <a:xfrm>
            <a:off x="10529155" y="1556405"/>
            <a:ext cx="49088" cy="49088"/>
          </a:xfrm>
          <a:prstGeom prst="ellipse">
            <a:avLst/>
          </a:prstGeom>
          <a:solidFill>
            <a:srgbClr val="475569"/>
          </a:solidFill>
          <a:ln w="8658" cap="flat">
            <a:solidFill>
              <a:srgbClr val="475569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22" name="Freeform: Shape 221">
            <a:extLst>
              <a:ext uri="{FF2B5EF4-FFF2-40B4-BE49-F238E27FC236}">
                <a16:creationId xmlns:a16="http://schemas.microsoft.com/office/drawing/2014/main" id="{63F757BC-9716-82D1-F72D-1C916ABB8FDA}"/>
              </a:ext>
            </a:extLst>
          </p:cNvPr>
          <p:cNvSpPr/>
          <p:nvPr/>
        </p:nvSpPr>
        <p:spPr>
          <a:xfrm>
            <a:off x="10553700" y="1602606"/>
            <a:ext cx="7218" cy="93846"/>
          </a:xfrm>
          <a:custGeom>
            <a:avLst/>
            <a:gdLst>
              <a:gd name="csX0" fmla="*/ 0 w 7218"/>
              <a:gd name="csY0" fmla="*/ 0 h 93846"/>
              <a:gd name="csX1" fmla="*/ 0 w 7218"/>
              <a:gd name="csY1" fmla="*/ 93846 h 93846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7218" h="93846">
                <a:moveTo>
                  <a:pt x="0" y="0"/>
                </a:moveTo>
                <a:lnTo>
                  <a:pt x="0" y="93846"/>
                </a:lnTo>
              </a:path>
            </a:pathLst>
          </a:custGeom>
          <a:ln w="15873" cap="flat">
            <a:solidFill>
              <a:srgbClr val="475569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23" name="Freeform: Shape 222">
            <a:extLst>
              <a:ext uri="{FF2B5EF4-FFF2-40B4-BE49-F238E27FC236}">
                <a16:creationId xmlns:a16="http://schemas.microsoft.com/office/drawing/2014/main" id="{0B0BBA3D-26BA-8E8E-26B2-ED2E216F4DCE}"/>
              </a:ext>
            </a:extLst>
          </p:cNvPr>
          <p:cNvSpPr/>
          <p:nvPr/>
        </p:nvSpPr>
        <p:spPr>
          <a:xfrm>
            <a:off x="10557309" y="1580949"/>
            <a:ext cx="1212783" cy="3219650"/>
          </a:xfrm>
          <a:custGeom>
            <a:avLst/>
            <a:gdLst>
              <a:gd name="csX0" fmla="*/ 0 w 1212783"/>
              <a:gd name="csY0" fmla="*/ 0 h 3219650"/>
              <a:gd name="csX1" fmla="*/ 1212783 w 1212783"/>
              <a:gd name="csY1" fmla="*/ 0 h 3219650"/>
              <a:gd name="csX2" fmla="*/ 1212783 w 1212783"/>
              <a:gd name="csY2" fmla="*/ 3219651 h 3219650"/>
              <a:gd name="csX3" fmla="*/ 1147813 w 1212783"/>
              <a:gd name="csY3" fmla="*/ 3219651 h 32196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212783" h="3219650">
                <a:moveTo>
                  <a:pt x="0" y="0"/>
                </a:moveTo>
                <a:lnTo>
                  <a:pt x="1212783" y="0"/>
                </a:lnTo>
                <a:lnTo>
                  <a:pt x="1212783" y="3219651"/>
                </a:lnTo>
                <a:lnTo>
                  <a:pt x="1147813" y="3219651"/>
                </a:lnTo>
              </a:path>
            </a:pathLst>
          </a:custGeom>
          <a:noFill/>
          <a:ln w="14430" cap="flat">
            <a:solidFill>
              <a:srgbClr val="475569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24" name="Rectangle: Rounded Corners 223">
            <a:extLst>
              <a:ext uri="{FF2B5EF4-FFF2-40B4-BE49-F238E27FC236}">
                <a16:creationId xmlns:a16="http://schemas.microsoft.com/office/drawing/2014/main" id="{0C7F3B2A-26DC-0F11-BF5C-6E38EE13DFC1}"/>
              </a:ext>
            </a:extLst>
          </p:cNvPr>
          <p:cNvSpPr/>
          <p:nvPr/>
        </p:nvSpPr>
        <p:spPr>
          <a:xfrm>
            <a:off x="9416715" y="1696452"/>
            <a:ext cx="2273968" cy="2129589"/>
          </a:xfrm>
          <a:prstGeom prst="roundRect">
            <a:avLst>
              <a:gd name="adj" fmla="val 2711"/>
            </a:avLst>
          </a:prstGeom>
          <a:solidFill>
            <a:srgbClr val="F0FDFA"/>
          </a:solidFill>
          <a:ln w="13709" cap="flat">
            <a:solidFill>
              <a:srgbClr val="0F766E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B3AF8761-44D7-A422-089F-0A8CA70D13C0}"/>
              </a:ext>
            </a:extLst>
          </p:cNvPr>
          <p:cNvSpPr txBox="1"/>
          <p:nvPr/>
        </p:nvSpPr>
        <p:spPr>
          <a:xfrm>
            <a:off x="9502525" y="1745033"/>
            <a:ext cx="2102349" cy="2245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238" b="1" spc="0" baseline="0">
                <a:ln/>
                <a:solidFill>
                  <a:srgbClr val="0F766E"/>
                </a:solidFill>
                <a:latin typeface="Arial"/>
                <a:cs typeface="Arial"/>
                <a:sym typeface="Arial"/>
                <a:rtl val="0"/>
              </a:rPr>
              <a:t>Actor: Masked Dispatching Policy</a:t>
            </a:r>
          </a:p>
        </p:txBody>
      </p:sp>
      <p:sp>
        <p:nvSpPr>
          <p:cNvPr id="226" name="Rectangle: Rounded Corners 225">
            <a:extLst>
              <a:ext uri="{FF2B5EF4-FFF2-40B4-BE49-F238E27FC236}">
                <a16:creationId xmlns:a16="http://schemas.microsoft.com/office/drawing/2014/main" id="{06F5B464-9A20-1985-4847-FCFD9E077AA8}"/>
              </a:ext>
            </a:extLst>
          </p:cNvPr>
          <p:cNvSpPr/>
          <p:nvPr/>
        </p:nvSpPr>
        <p:spPr>
          <a:xfrm>
            <a:off x="9561094" y="2035743"/>
            <a:ext cx="1985210" cy="303195"/>
          </a:xfrm>
          <a:prstGeom prst="roundRect">
            <a:avLst>
              <a:gd name="adj" fmla="val 9523"/>
            </a:avLst>
          </a:prstGeom>
          <a:solidFill>
            <a:srgbClr val="FFFFFF"/>
          </a:solidFill>
          <a:ln w="7937" cap="flat">
            <a:solidFill>
              <a:srgbClr val="CBD5E1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27" name="TextBox 226">
            <a:extLst>
              <a:ext uri="{FF2B5EF4-FFF2-40B4-BE49-F238E27FC236}">
                <a16:creationId xmlns:a16="http://schemas.microsoft.com/office/drawing/2014/main" id="{3ED9151D-04D0-62A6-44BA-91863B569252}"/>
              </a:ext>
            </a:extLst>
          </p:cNvPr>
          <p:cNvSpPr txBox="1"/>
          <p:nvPr/>
        </p:nvSpPr>
        <p:spPr>
          <a:xfrm>
            <a:off x="9868892" y="2091384"/>
            <a:ext cx="1369614" cy="201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975" b="1" spc="0" baseline="0">
                <a:ln/>
                <a:solidFill>
                  <a:srgbClr val="0F172A"/>
                </a:solidFill>
                <a:latin typeface="Consolas"/>
                <a:sym typeface="Consolas"/>
                <a:rtl val="0"/>
              </a:rPr>
              <a:t>MLP_actor: 128 → 64 → 1</a:t>
            </a:r>
          </a:p>
        </p:txBody>
      </p:sp>
      <p:sp>
        <p:nvSpPr>
          <p:cNvPr id="228" name="Freeform: Shape 227">
            <a:extLst>
              <a:ext uri="{FF2B5EF4-FFF2-40B4-BE49-F238E27FC236}">
                <a16:creationId xmlns:a16="http://schemas.microsoft.com/office/drawing/2014/main" id="{16EB8C29-DA85-4403-D6C3-D02A7185BBFA}"/>
              </a:ext>
            </a:extLst>
          </p:cNvPr>
          <p:cNvSpPr/>
          <p:nvPr/>
        </p:nvSpPr>
        <p:spPr>
          <a:xfrm>
            <a:off x="10553700" y="2353376"/>
            <a:ext cx="7218" cy="122722"/>
          </a:xfrm>
          <a:custGeom>
            <a:avLst/>
            <a:gdLst>
              <a:gd name="csX0" fmla="*/ 0 w 7218"/>
              <a:gd name="csY0" fmla="*/ 0 h 122722"/>
              <a:gd name="csX1" fmla="*/ 0 w 7218"/>
              <a:gd name="csY1" fmla="*/ 122722 h 122722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7218" h="122722">
                <a:moveTo>
                  <a:pt x="0" y="0"/>
                </a:moveTo>
                <a:lnTo>
                  <a:pt x="0" y="122722"/>
                </a:lnTo>
              </a:path>
            </a:pathLst>
          </a:custGeom>
          <a:ln w="12987" cap="flat">
            <a:solidFill>
              <a:srgbClr val="0F766E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29" name="Rectangle: Rounded Corners 228">
            <a:extLst>
              <a:ext uri="{FF2B5EF4-FFF2-40B4-BE49-F238E27FC236}">
                <a16:creationId xmlns:a16="http://schemas.microsoft.com/office/drawing/2014/main" id="{E507EA9D-259B-0377-0C0A-F33C4164AABD}"/>
              </a:ext>
            </a:extLst>
          </p:cNvPr>
          <p:cNvSpPr/>
          <p:nvPr/>
        </p:nvSpPr>
        <p:spPr>
          <a:xfrm>
            <a:off x="9561094" y="2512193"/>
            <a:ext cx="1985210" cy="281538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7937" cap="flat">
            <a:solidFill>
              <a:srgbClr val="CBD5E1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30" name="TextBox 229">
            <a:extLst>
              <a:ext uri="{FF2B5EF4-FFF2-40B4-BE49-F238E27FC236}">
                <a16:creationId xmlns:a16="http://schemas.microsoft.com/office/drawing/2014/main" id="{D7E6AE28-DE9B-7C03-3B58-16E4266CA1A5}"/>
              </a:ext>
            </a:extLst>
          </p:cNvPr>
          <p:cNvSpPr txBox="1"/>
          <p:nvPr/>
        </p:nvSpPr>
        <p:spPr>
          <a:xfrm>
            <a:off x="9787131" y="2563272"/>
            <a:ext cx="1533136" cy="197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945" spc="0" baseline="0">
                <a:ln/>
                <a:solidFill>
                  <a:srgbClr val="0F172A"/>
                </a:solidFill>
                <a:latin typeface="Consolas"/>
                <a:sym typeface="Consolas"/>
                <a:rtl val="0"/>
              </a:rPr>
              <a:t>all operation logits: [n_o]</a:t>
            </a:r>
          </a:p>
        </p:txBody>
      </p:sp>
      <p:sp>
        <p:nvSpPr>
          <p:cNvPr id="231" name="Freeform: Shape 230">
            <a:extLst>
              <a:ext uri="{FF2B5EF4-FFF2-40B4-BE49-F238E27FC236}">
                <a16:creationId xmlns:a16="http://schemas.microsoft.com/office/drawing/2014/main" id="{6AEF2A51-B209-0568-A0F1-B4366669B021}"/>
              </a:ext>
            </a:extLst>
          </p:cNvPr>
          <p:cNvSpPr/>
          <p:nvPr/>
        </p:nvSpPr>
        <p:spPr>
          <a:xfrm>
            <a:off x="10553700" y="2808170"/>
            <a:ext cx="7218" cy="115503"/>
          </a:xfrm>
          <a:custGeom>
            <a:avLst/>
            <a:gdLst>
              <a:gd name="csX0" fmla="*/ 0 w 7218"/>
              <a:gd name="csY0" fmla="*/ 0 h 115503"/>
              <a:gd name="csX1" fmla="*/ 0 w 7218"/>
              <a:gd name="csY1" fmla="*/ 115503 h 115503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7218" h="115503">
                <a:moveTo>
                  <a:pt x="0" y="0"/>
                </a:moveTo>
                <a:lnTo>
                  <a:pt x="0" y="115503"/>
                </a:lnTo>
              </a:path>
            </a:pathLst>
          </a:custGeom>
          <a:ln w="12987" cap="flat">
            <a:solidFill>
              <a:srgbClr val="0F766E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32" name="Rectangle: Rounded Corners 231">
            <a:extLst>
              <a:ext uri="{FF2B5EF4-FFF2-40B4-BE49-F238E27FC236}">
                <a16:creationId xmlns:a16="http://schemas.microsoft.com/office/drawing/2014/main" id="{93E867AC-C7BD-B069-95CE-785AABD093B4}"/>
              </a:ext>
            </a:extLst>
          </p:cNvPr>
          <p:cNvSpPr/>
          <p:nvPr/>
        </p:nvSpPr>
        <p:spPr>
          <a:xfrm>
            <a:off x="9561094" y="2959768"/>
            <a:ext cx="1985210" cy="332071"/>
          </a:xfrm>
          <a:prstGeom prst="roundRect">
            <a:avLst>
              <a:gd name="adj" fmla="val 10869"/>
            </a:avLst>
          </a:prstGeom>
          <a:solidFill>
            <a:srgbClr val="FEF2F2"/>
          </a:solidFill>
          <a:ln w="10823" cap="flat">
            <a:solidFill>
              <a:srgbClr val="DC2626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33" name="TextBox 232">
            <a:extLst>
              <a:ext uri="{FF2B5EF4-FFF2-40B4-BE49-F238E27FC236}">
                <a16:creationId xmlns:a16="http://schemas.microsoft.com/office/drawing/2014/main" id="{693C7CBB-C5F8-D492-59F7-D114F4BE93FC}"/>
              </a:ext>
            </a:extLst>
          </p:cNvPr>
          <p:cNvSpPr txBox="1"/>
          <p:nvPr/>
        </p:nvSpPr>
        <p:spPr>
          <a:xfrm>
            <a:off x="9873566" y="3034225"/>
            <a:ext cx="1360266" cy="204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975" b="1" spc="0" baseline="0">
                <a:ln/>
                <a:solidFill>
                  <a:srgbClr val="DC2626"/>
                </a:solidFill>
                <a:latin typeface="Consolas"/>
                <a:sym typeface="Consolas"/>
                <a:rtl val="0"/>
              </a:rPr>
              <a:t>if o </a:t>
            </a:r>
            <a:r>
              <a:rPr lang="en-US" sz="975" b="1" spc="0" baseline="0">
                <a:ln/>
                <a:solidFill>
                  <a:srgbClr val="DC2626"/>
                </a:solidFill>
                <a:latin typeface="Cambria Math"/>
                <a:ea typeface="Cambria Math"/>
                <a:sym typeface="Cambria Math"/>
                <a:rtl val="0"/>
              </a:rPr>
              <a:t>∉</a:t>
            </a:r>
            <a:r>
              <a:rPr lang="en-US" sz="975" b="1" spc="0" baseline="0">
                <a:ln/>
                <a:solidFill>
                  <a:srgbClr val="DC2626"/>
                </a:solidFill>
                <a:latin typeface="Consolas"/>
                <a:ea typeface="Cambria Math"/>
                <a:sym typeface="Consolas"/>
                <a:rtl val="0"/>
              </a:rPr>
              <a:t> A</a:t>
            </a:r>
            <a:r>
              <a:rPr lang="en-US" sz="975" b="1" spc="0" baseline="0">
                <a:ln/>
                <a:solidFill>
                  <a:srgbClr val="DC2626"/>
                </a:solidFill>
                <a:latin typeface="Cambria Math"/>
                <a:ea typeface="Cambria Math"/>
                <a:sym typeface="Cambria Math"/>
                <a:rtl val="0"/>
              </a:rPr>
              <a:t>ₜ</a:t>
            </a:r>
            <a:r>
              <a:rPr lang="en-US" sz="975" b="1" spc="0" baseline="0">
                <a:ln/>
                <a:solidFill>
                  <a:srgbClr val="DC2626"/>
                </a:solidFill>
                <a:latin typeface="Consolas"/>
                <a:ea typeface="Cambria Math"/>
                <a:sym typeface="Consolas"/>
                <a:rtl val="0"/>
              </a:rPr>
              <a:t>: logit_o = −∞</a:t>
            </a:r>
          </a:p>
        </p:txBody>
      </p:sp>
      <p:sp>
        <p:nvSpPr>
          <p:cNvPr id="234" name="Freeform: Shape 233">
            <a:extLst>
              <a:ext uri="{FF2B5EF4-FFF2-40B4-BE49-F238E27FC236}">
                <a16:creationId xmlns:a16="http://schemas.microsoft.com/office/drawing/2014/main" id="{1B3242C2-91C8-B541-484C-6EB76B7937D5}"/>
              </a:ext>
            </a:extLst>
          </p:cNvPr>
          <p:cNvSpPr/>
          <p:nvPr/>
        </p:nvSpPr>
        <p:spPr>
          <a:xfrm>
            <a:off x="10553700" y="3306277"/>
            <a:ext cx="7218" cy="108284"/>
          </a:xfrm>
          <a:custGeom>
            <a:avLst/>
            <a:gdLst>
              <a:gd name="csX0" fmla="*/ 0 w 7218"/>
              <a:gd name="csY0" fmla="*/ 0 h 108284"/>
              <a:gd name="csX1" fmla="*/ 0 w 7218"/>
              <a:gd name="csY1" fmla="*/ 108284 h 108284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7218" h="108284">
                <a:moveTo>
                  <a:pt x="0" y="0"/>
                </a:moveTo>
                <a:lnTo>
                  <a:pt x="0" y="108284"/>
                </a:lnTo>
              </a:path>
            </a:pathLst>
          </a:custGeom>
          <a:ln w="12987" cap="flat">
            <a:solidFill>
              <a:srgbClr val="0F766E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35" name="TextBox 234">
            <a:extLst>
              <a:ext uri="{FF2B5EF4-FFF2-40B4-BE49-F238E27FC236}">
                <a16:creationId xmlns:a16="http://schemas.microsoft.com/office/drawing/2014/main" id="{DEDB9CF4-9FD4-84DF-A6BC-D05F8665833A}"/>
              </a:ext>
            </a:extLst>
          </p:cNvPr>
          <p:cNvSpPr txBox="1"/>
          <p:nvPr/>
        </p:nvSpPr>
        <p:spPr>
          <a:xfrm>
            <a:off x="9646519" y="3428164"/>
            <a:ext cx="1809993" cy="1963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930" b="1" spc="0" baseline="0">
                <a:ln/>
                <a:solidFill>
                  <a:srgbClr val="0F172A"/>
                </a:solidFill>
                <a:latin typeface="Cambria Math"/>
                <a:ea typeface="Cambria Math"/>
                <a:sym typeface="Cambria Math"/>
                <a:rtl val="0"/>
              </a:rPr>
              <a:t>π_θ(o | Gₜ) = softmax(masked logits)</a:t>
            </a:r>
          </a:p>
        </p:txBody>
      </p:sp>
      <p:sp>
        <p:nvSpPr>
          <p:cNvPr id="236" name="TextBox 235">
            <a:extLst>
              <a:ext uri="{FF2B5EF4-FFF2-40B4-BE49-F238E27FC236}">
                <a16:creationId xmlns:a16="http://schemas.microsoft.com/office/drawing/2014/main" id="{B40F51C7-C891-B88B-EDAF-C8D3A010DEF1}"/>
              </a:ext>
            </a:extLst>
          </p:cNvPr>
          <p:cNvSpPr txBox="1"/>
          <p:nvPr/>
        </p:nvSpPr>
        <p:spPr>
          <a:xfrm>
            <a:off x="9833286" y="3580455"/>
            <a:ext cx="1440827" cy="1777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802" spc="0" baseline="0">
                <a:ln/>
                <a:solidFill>
                  <a:srgbClr val="475569"/>
                </a:solidFill>
                <a:latin typeface="Arial"/>
                <a:cs typeface="Arial"/>
                <a:sym typeface="Arial"/>
                <a:rtl val="0"/>
              </a:rPr>
              <a:t>Scores all operations first; infeasible </a:t>
            </a:r>
          </a:p>
        </p:txBody>
      </p:sp>
      <p:sp>
        <p:nvSpPr>
          <p:cNvPr id="237" name="TextBox 236">
            <a:extLst>
              <a:ext uri="{FF2B5EF4-FFF2-40B4-BE49-F238E27FC236}">
                <a16:creationId xmlns:a16="http://schemas.microsoft.com/office/drawing/2014/main" id="{C7290821-0FC6-AB44-DAE9-96A1886A09C0}"/>
              </a:ext>
            </a:extLst>
          </p:cNvPr>
          <p:cNvSpPr txBox="1"/>
          <p:nvPr/>
        </p:nvSpPr>
        <p:spPr>
          <a:xfrm>
            <a:off x="9792477" y="3681520"/>
            <a:ext cx="1522445" cy="177734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 algn="l"/>
            <a:r>
              <a:rPr lang="en-US" sz="1203" spc="0" baseline="87282">
                <a:ln/>
                <a:solidFill>
                  <a:srgbClr val="475569"/>
                </a:solidFill>
                <a:latin typeface="Arial"/>
                <a:cs typeface="Arial"/>
                <a:sym typeface="Arial"/>
                <a:rtl val="0"/>
              </a:rPr>
              <a:t>operations are masked before softmax.</a:t>
            </a:r>
          </a:p>
        </p:txBody>
      </p:sp>
      <p:sp>
        <p:nvSpPr>
          <p:cNvPr id="238" name="Rectangle: Rounded Corners 237">
            <a:extLst>
              <a:ext uri="{FF2B5EF4-FFF2-40B4-BE49-F238E27FC236}">
                <a16:creationId xmlns:a16="http://schemas.microsoft.com/office/drawing/2014/main" id="{7DE8F0EA-53CF-9FA6-9110-973DB957A5DF}"/>
              </a:ext>
            </a:extLst>
          </p:cNvPr>
          <p:cNvSpPr/>
          <p:nvPr/>
        </p:nvSpPr>
        <p:spPr>
          <a:xfrm>
            <a:off x="9416715" y="3970421"/>
            <a:ext cx="2273968" cy="1660357"/>
          </a:xfrm>
          <a:prstGeom prst="roundRect">
            <a:avLst>
              <a:gd name="adj" fmla="val 3478"/>
            </a:avLst>
          </a:prstGeom>
          <a:solidFill>
            <a:srgbClr val="FFFBEB"/>
          </a:solidFill>
          <a:ln w="13709" cap="flat">
            <a:solidFill>
              <a:srgbClr val="B45309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39" name="TextBox 238">
            <a:extLst>
              <a:ext uri="{FF2B5EF4-FFF2-40B4-BE49-F238E27FC236}">
                <a16:creationId xmlns:a16="http://schemas.microsoft.com/office/drawing/2014/main" id="{2625D084-4C04-0535-AF8A-3B992B820E4E}"/>
              </a:ext>
            </a:extLst>
          </p:cNvPr>
          <p:cNvSpPr txBox="1"/>
          <p:nvPr/>
        </p:nvSpPr>
        <p:spPr>
          <a:xfrm>
            <a:off x="9773814" y="4026221"/>
            <a:ext cx="1559770" cy="2245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238" b="1" spc="0" baseline="0">
                <a:ln/>
                <a:solidFill>
                  <a:srgbClr val="B45309"/>
                </a:solidFill>
                <a:latin typeface="Arial"/>
                <a:cs typeface="Arial"/>
                <a:sym typeface="Arial"/>
                <a:rtl val="0"/>
              </a:rPr>
              <a:t>Critic: Graph-level Value</a:t>
            </a:r>
          </a:p>
        </p:txBody>
      </p:sp>
      <p:sp>
        <p:nvSpPr>
          <p:cNvPr id="240" name="TextBox 239">
            <a:extLst>
              <a:ext uri="{FF2B5EF4-FFF2-40B4-BE49-F238E27FC236}">
                <a16:creationId xmlns:a16="http://schemas.microsoft.com/office/drawing/2014/main" id="{33564FF2-5175-2459-4102-8B13311E5346}"/>
              </a:ext>
            </a:extLst>
          </p:cNvPr>
          <p:cNvSpPr txBox="1"/>
          <p:nvPr/>
        </p:nvSpPr>
        <p:spPr>
          <a:xfrm>
            <a:off x="9469654" y="4278763"/>
            <a:ext cx="1583888" cy="1890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908" b="1" spc="0" baseline="0">
                <a:ln/>
                <a:solidFill>
                  <a:srgbClr val="0F172A"/>
                </a:solidFill>
                <a:latin typeface="Arial"/>
                <a:cs typeface="Arial"/>
                <a:sym typeface="Arial"/>
                <a:rtl val="0"/>
              </a:rPr>
              <a:t>Select unscheduled operations U</a:t>
            </a:r>
            <a:r>
              <a:rPr lang="en-US" sz="825" b="1" spc="0" baseline="0">
                <a:ln/>
                <a:solidFill>
                  <a:srgbClr val="0F172A"/>
                </a:solidFill>
                <a:latin typeface="Cambria Math"/>
                <a:ea typeface="Cambria Math"/>
                <a:cs typeface="Arial"/>
                <a:sym typeface="Cambria Math"/>
                <a:rtl val="0"/>
              </a:rPr>
              <a:t>ₜ</a:t>
            </a:r>
          </a:p>
        </p:txBody>
      </p:sp>
      <p:sp>
        <p:nvSpPr>
          <p:cNvPr id="241" name="TextBox 240">
            <a:extLst>
              <a:ext uri="{FF2B5EF4-FFF2-40B4-BE49-F238E27FC236}">
                <a16:creationId xmlns:a16="http://schemas.microsoft.com/office/drawing/2014/main" id="{AD13C5D4-CCD3-B185-B1E6-620ABCB51051}"/>
              </a:ext>
            </a:extLst>
          </p:cNvPr>
          <p:cNvSpPr txBox="1"/>
          <p:nvPr/>
        </p:nvSpPr>
        <p:spPr>
          <a:xfrm>
            <a:off x="9469654" y="4444798"/>
            <a:ext cx="774833" cy="1890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908" b="1" spc="0" baseline="0">
                <a:ln/>
                <a:solidFill>
                  <a:srgbClr val="0F172A"/>
                </a:solidFill>
                <a:latin typeface="Arial"/>
                <a:cs typeface="Arial"/>
                <a:sym typeface="Arial"/>
                <a:rtl val="0"/>
              </a:rPr>
              <a:t>Mean pooling:</a:t>
            </a:r>
          </a:p>
        </p:txBody>
      </p:sp>
      <p:sp>
        <p:nvSpPr>
          <p:cNvPr id="242" name="TextBox 241">
            <a:extLst>
              <a:ext uri="{FF2B5EF4-FFF2-40B4-BE49-F238E27FC236}">
                <a16:creationId xmlns:a16="http://schemas.microsoft.com/office/drawing/2014/main" id="{859B83F8-1622-3259-3165-3DFC1B1F7525}"/>
              </a:ext>
            </a:extLst>
          </p:cNvPr>
          <p:cNvSpPr txBox="1"/>
          <p:nvPr/>
        </p:nvSpPr>
        <p:spPr>
          <a:xfrm>
            <a:off x="9875835" y="4624131"/>
            <a:ext cx="1355729" cy="1852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975" spc="0" baseline="0">
                <a:ln/>
                <a:solidFill>
                  <a:srgbClr val="0F172A"/>
                </a:solidFill>
                <a:latin typeface="Cambria Math"/>
                <a:ea typeface="Cambria Math"/>
                <a:sym typeface="Cambria Math"/>
                <a:rtl val="0"/>
              </a:rPr>
              <a:t>h_G = mean({h_o^L | o ∈ Uₜ})</a:t>
            </a:r>
          </a:p>
        </p:txBody>
      </p:sp>
      <p:sp>
        <p:nvSpPr>
          <p:cNvPr id="243" name="Freeform: Shape 242">
            <a:extLst>
              <a:ext uri="{FF2B5EF4-FFF2-40B4-BE49-F238E27FC236}">
                <a16:creationId xmlns:a16="http://schemas.microsoft.com/office/drawing/2014/main" id="{FA12CA2E-28F1-DF90-D8A4-6B13A81D1319}"/>
              </a:ext>
            </a:extLst>
          </p:cNvPr>
          <p:cNvSpPr/>
          <p:nvPr/>
        </p:nvSpPr>
        <p:spPr>
          <a:xfrm>
            <a:off x="10553700" y="4807818"/>
            <a:ext cx="7218" cy="108284"/>
          </a:xfrm>
          <a:custGeom>
            <a:avLst/>
            <a:gdLst>
              <a:gd name="csX0" fmla="*/ 0 w 7218"/>
              <a:gd name="csY0" fmla="*/ 0 h 108284"/>
              <a:gd name="csX1" fmla="*/ 0 w 7218"/>
              <a:gd name="csY1" fmla="*/ 108284 h 108284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7218" h="108284">
                <a:moveTo>
                  <a:pt x="0" y="0"/>
                </a:moveTo>
                <a:lnTo>
                  <a:pt x="0" y="108284"/>
                </a:lnTo>
              </a:path>
            </a:pathLst>
          </a:custGeom>
          <a:ln w="12987" cap="flat">
            <a:solidFill>
              <a:srgbClr val="B45309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44" name="Rectangle: Rounded Corners 243">
            <a:extLst>
              <a:ext uri="{FF2B5EF4-FFF2-40B4-BE49-F238E27FC236}">
                <a16:creationId xmlns:a16="http://schemas.microsoft.com/office/drawing/2014/main" id="{55E946D0-8E65-AB82-4952-7BF261990F4A}"/>
              </a:ext>
            </a:extLst>
          </p:cNvPr>
          <p:cNvSpPr/>
          <p:nvPr/>
        </p:nvSpPr>
        <p:spPr>
          <a:xfrm>
            <a:off x="9561094" y="4959416"/>
            <a:ext cx="1985210" cy="281538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7937" cap="flat">
            <a:solidFill>
              <a:srgbClr val="CBD5E1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45" name="TextBox 244">
            <a:extLst>
              <a:ext uri="{FF2B5EF4-FFF2-40B4-BE49-F238E27FC236}">
                <a16:creationId xmlns:a16="http://schemas.microsoft.com/office/drawing/2014/main" id="{C4886E2A-6A20-622D-D2FE-B35AACDDB37A}"/>
              </a:ext>
            </a:extLst>
          </p:cNvPr>
          <p:cNvSpPr txBox="1"/>
          <p:nvPr/>
        </p:nvSpPr>
        <p:spPr>
          <a:xfrm>
            <a:off x="9871671" y="5011823"/>
            <a:ext cx="1364057" cy="1962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930" b="1" spc="0" baseline="0">
                <a:ln/>
                <a:solidFill>
                  <a:srgbClr val="0F172A"/>
                </a:solidFill>
                <a:latin typeface="Consolas"/>
                <a:sym typeface="Consolas"/>
                <a:rtl val="0"/>
              </a:rPr>
              <a:t>MLP_critic: 128 → 64 → 1</a:t>
            </a:r>
          </a:p>
        </p:txBody>
      </p:sp>
      <p:sp>
        <p:nvSpPr>
          <p:cNvPr id="246" name="TextBox 245">
            <a:extLst>
              <a:ext uri="{FF2B5EF4-FFF2-40B4-BE49-F238E27FC236}">
                <a16:creationId xmlns:a16="http://schemas.microsoft.com/office/drawing/2014/main" id="{0F7455AE-AFF5-5ADE-92DB-8A8A15AEB11C}"/>
              </a:ext>
            </a:extLst>
          </p:cNvPr>
          <p:cNvSpPr txBox="1"/>
          <p:nvPr/>
        </p:nvSpPr>
        <p:spPr>
          <a:xfrm>
            <a:off x="10231253" y="5237442"/>
            <a:ext cx="640532" cy="2353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275" b="1" spc="0" baseline="0">
                <a:ln/>
                <a:solidFill>
                  <a:srgbClr val="0F172A"/>
                </a:solidFill>
                <a:latin typeface="Cambria Math"/>
                <a:ea typeface="Cambria Math"/>
                <a:sym typeface="Cambria Math"/>
                <a:rtl val="0"/>
              </a:rPr>
              <a:t>V_φ(Gₜ)</a:t>
            </a:r>
          </a:p>
        </p:txBody>
      </p:sp>
      <p:sp>
        <p:nvSpPr>
          <p:cNvPr id="247" name="TextBox 246">
            <a:extLst>
              <a:ext uri="{FF2B5EF4-FFF2-40B4-BE49-F238E27FC236}">
                <a16:creationId xmlns:a16="http://schemas.microsoft.com/office/drawing/2014/main" id="{33551B42-6834-D0D3-1D3E-53B3C7FD5C91}"/>
              </a:ext>
            </a:extLst>
          </p:cNvPr>
          <p:cNvSpPr txBox="1"/>
          <p:nvPr/>
        </p:nvSpPr>
        <p:spPr>
          <a:xfrm>
            <a:off x="9723094" y="5419979"/>
            <a:ext cx="1661211" cy="1793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817" spc="0" baseline="0">
                <a:ln/>
                <a:solidFill>
                  <a:srgbClr val="B45309"/>
                </a:solidFill>
                <a:latin typeface="Arial"/>
                <a:cs typeface="Arial"/>
                <a:sym typeface="Arial"/>
                <a:rtl val="0"/>
              </a:rPr>
              <a:t>Used by PPO / GAE advantage estimation</a:t>
            </a:r>
          </a:p>
        </p:txBody>
      </p:sp>
      <p:sp>
        <p:nvSpPr>
          <p:cNvPr id="248" name="Freeform: Shape 247">
            <a:extLst>
              <a:ext uri="{FF2B5EF4-FFF2-40B4-BE49-F238E27FC236}">
                <a16:creationId xmlns:a16="http://schemas.microsoft.com/office/drawing/2014/main" id="{1B52A1FC-B939-B5C0-05E9-5CE519B4D15C}"/>
              </a:ext>
            </a:extLst>
          </p:cNvPr>
          <p:cNvSpPr/>
          <p:nvPr/>
        </p:nvSpPr>
        <p:spPr>
          <a:xfrm>
            <a:off x="2111140" y="3140242"/>
            <a:ext cx="129941" cy="7218"/>
          </a:xfrm>
          <a:custGeom>
            <a:avLst/>
            <a:gdLst>
              <a:gd name="csX0" fmla="*/ 0 w 129941"/>
              <a:gd name="csY0" fmla="*/ 0 h 7218"/>
              <a:gd name="csX1" fmla="*/ 129941 w 129941"/>
              <a:gd name="csY1" fmla="*/ 0 h 7218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29941" h="7218">
                <a:moveTo>
                  <a:pt x="0" y="0"/>
                </a:moveTo>
                <a:lnTo>
                  <a:pt x="129941" y="0"/>
                </a:lnTo>
              </a:path>
            </a:pathLst>
          </a:custGeom>
          <a:ln w="18038" cap="flat">
            <a:solidFill>
              <a:srgbClr val="475569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49" name="Freeform: Shape 248">
            <a:extLst>
              <a:ext uri="{FF2B5EF4-FFF2-40B4-BE49-F238E27FC236}">
                <a16:creationId xmlns:a16="http://schemas.microsoft.com/office/drawing/2014/main" id="{BB4692E2-ADEC-80DA-EE88-7E1CCCF5890C}"/>
              </a:ext>
            </a:extLst>
          </p:cNvPr>
          <p:cNvSpPr/>
          <p:nvPr/>
        </p:nvSpPr>
        <p:spPr>
          <a:xfrm>
            <a:off x="4457298" y="3140242"/>
            <a:ext cx="129941" cy="7218"/>
          </a:xfrm>
          <a:custGeom>
            <a:avLst/>
            <a:gdLst>
              <a:gd name="csX0" fmla="*/ 0 w 129941"/>
              <a:gd name="csY0" fmla="*/ 0 h 7218"/>
              <a:gd name="csX1" fmla="*/ 129941 w 129941"/>
              <a:gd name="csY1" fmla="*/ 0 h 7218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29941" h="7218">
                <a:moveTo>
                  <a:pt x="0" y="0"/>
                </a:moveTo>
                <a:lnTo>
                  <a:pt x="129941" y="0"/>
                </a:lnTo>
              </a:path>
            </a:pathLst>
          </a:custGeom>
          <a:ln w="18038" cap="flat">
            <a:solidFill>
              <a:srgbClr val="475569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50" name="Freeform: Shape 249">
            <a:extLst>
              <a:ext uri="{FF2B5EF4-FFF2-40B4-BE49-F238E27FC236}">
                <a16:creationId xmlns:a16="http://schemas.microsoft.com/office/drawing/2014/main" id="{99723DC1-381E-EBE2-5E02-1991E0D5F992}"/>
              </a:ext>
            </a:extLst>
          </p:cNvPr>
          <p:cNvSpPr/>
          <p:nvPr/>
        </p:nvSpPr>
        <p:spPr>
          <a:xfrm>
            <a:off x="6262035" y="3140242"/>
            <a:ext cx="129941" cy="7218"/>
          </a:xfrm>
          <a:custGeom>
            <a:avLst/>
            <a:gdLst>
              <a:gd name="csX0" fmla="*/ 0 w 129941"/>
              <a:gd name="csY0" fmla="*/ 0 h 7218"/>
              <a:gd name="csX1" fmla="*/ 129941 w 129941"/>
              <a:gd name="csY1" fmla="*/ 0 h 7218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29941" h="7218">
                <a:moveTo>
                  <a:pt x="0" y="0"/>
                </a:moveTo>
                <a:lnTo>
                  <a:pt x="129941" y="0"/>
                </a:lnTo>
              </a:path>
            </a:pathLst>
          </a:custGeom>
          <a:ln w="18038" cap="flat">
            <a:solidFill>
              <a:srgbClr val="475569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51" name="Freeform: Shape 250">
            <a:extLst>
              <a:ext uri="{FF2B5EF4-FFF2-40B4-BE49-F238E27FC236}">
                <a16:creationId xmlns:a16="http://schemas.microsoft.com/office/drawing/2014/main" id="{EB15D09D-0616-81BB-B4B8-BAC4D317E2E2}"/>
              </a:ext>
            </a:extLst>
          </p:cNvPr>
          <p:cNvSpPr/>
          <p:nvPr/>
        </p:nvSpPr>
        <p:spPr>
          <a:xfrm>
            <a:off x="9257899" y="3140242"/>
            <a:ext cx="129941" cy="7218"/>
          </a:xfrm>
          <a:custGeom>
            <a:avLst/>
            <a:gdLst>
              <a:gd name="csX0" fmla="*/ 0 w 129941"/>
              <a:gd name="csY0" fmla="*/ 0 h 7218"/>
              <a:gd name="csX1" fmla="*/ 129941 w 129941"/>
              <a:gd name="csY1" fmla="*/ 0 h 7218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29941" h="7218">
                <a:moveTo>
                  <a:pt x="0" y="0"/>
                </a:moveTo>
                <a:lnTo>
                  <a:pt x="129941" y="0"/>
                </a:lnTo>
              </a:path>
            </a:pathLst>
          </a:custGeom>
          <a:ln w="18038" cap="flat">
            <a:solidFill>
              <a:srgbClr val="475569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52" name="TextBox 251">
            <a:extLst>
              <a:ext uri="{FF2B5EF4-FFF2-40B4-BE49-F238E27FC236}">
                <a16:creationId xmlns:a16="http://schemas.microsoft.com/office/drawing/2014/main" id="{F4E420C9-E113-C90F-3356-689A73CF8A5A}"/>
              </a:ext>
            </a:extLst>
          </p:cNvPr>
          <p:cNvSpPr txBox="1"/>
          <p:nvPr/>
        </p:nvSpPr>
        <p:spPr>
          <a:xfrm>
            <a:off x="445970" y="5731108"/>
            <a:ext cx="1371722" cy="1962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975" b="1" spc="0" baseline="0">
                <a:ln/>
                <a:solidFill>
                  <a:srgbClr val="475569"/>
                </a:solidFill>
                <a:latin typeface="Arial"/>
                <a:cs typeface="Arial"/>
                <a:sym typeface="Arial"/>
                <a:rtl val="0"/>
              </a:rPr>
              <a:t>Methodological separation</a:t>
            </a:r>
          </a:p>
        </p:txBody>
      </p:sp>
      <p:sp>
        <p:nvSpPr>
          <p:cNvPr id="253" name="Rectangle: Rounded Corners 252">
            <a:extLst>
              <a:ext uri="{FF2B5EF4-FFF2-40B4-BE49-F238E27FC236}">
                <a16:creationId xmlns:a16="http://schemas.microsoft.com/office/drawing/2014/main" id="{B129EE66-24AC-5FDA-5B16-C5B2AE92EA74}"/>
              </a:ext>
            </a:extLst>
          </p:cNvPr>
          <p:cNvSpPr/>
          <p:nvPr/>
        </p:nvSpPr>
        <p:spPr>
          <a:xfrm>
            <a:off x="537410" y="5955631"/>
            <a:ext cx="2598821" cy="671362"/>
          </a:xfrm>
          <a:prstGeom prst="roundRect">
            <a:avLst>
              <a:gd name="adj" fmla="val 8602"/>
            </a:avLst>
          </a:prstGeom>
          <a:solidFill>
            <a:srgbClr val="EFF6FF"/>
          </a:solidFill>
          <a:ln w="12266" cap="flat">
            <a:solidFill>
              <a:srgbClr val="2563EB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54" name="TextBox 253">
            <a:extLst>
              <a:ext uri="{FF2B5EF4-FFF2-40B4-BE49-F238E27FC236}">
                <a16:creationId xmlns:a16="http://schemas.microsoft.com/office/drawing/2014/main" id="{60E8B296-989A-E3DB-6B9E-1FE498B239A7}"/>
              </a:ext>
            </a:extLst>
          </p:cNvPr>
          <p:cNvSpPr txBox="1"/>
          <p:nvPr/>
        </p:nvSpPr>
        <p:spPr>
          <a:xfrm>
            <a:off x="1342642" y="6036355"/>
            <a:ext cx="988356" cy="2204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200" b="1" spc="0" baseline="0">
                <a:ln/>
                <a:solidFill>
                  <a:srgbClr val="2563EB"/>
                </a:solidFill>
                <a:latin typeface="Arial"/>
                <a:cs typeface="Arial"/>
                <a:sym typeface="Arial"/>
                <a:rtl val="0"/>
              </a:rPr>
              <a:t>1. HGT + Actor</a:t>
            </a:r>
          </a:p>
        </p:txBody>
      </p:sp>
      <p:sp>
        <p:nvSpPr>
          <p:cNvPr id="255" name="TextBox 254">
            <a:extLst>
              <a:ext uri="{FF2B5EF4-FFF2-40B4-BE49-F238E27FC236}">
                <a16:creationId xmlns:a16="http://schemas.microsoft.com/office/drawing/2014/main" id="{677527B9-CAA5-5B14-06DB-1046BB5F4434}"/>
              </a:ext>
            </a:extLst>
          </p:cNvPr>
          <p:cNvSpPr txBox="1"/>
          <p:nvPr/>
        </p:nvSpPr>
        <p:spPr>
          <a:xfrm>
            <a:off x="1180580" y="6247574"/>
            <a:ext cx="1312481" cy="1914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930" spc="0" baseline="0">
                <a:ln/>
                <a:solidFill>
                  <a:srgbClr val="0F172A"/>
                </a:solidFill>
                <a:latin typeface="Arial"/>
                <a:cs typeface="Arial"/>
                <a:sym typeface="Arial"/>
                <a:rtl val="0"/>
              </a:rPr>
              <a:t>learn dispatching preference</a:t>
            </a:r>
          </a:p>
        </p:txBody>
      </p:sp>
      <p:sp>
        <p:nvSpPr>
          <p:cNvPr id="256" name="TextBox 255">
            <a:extLst>
              <a:ext uri="{FF2B5EF4-FFF2-40B4-BE49-F238E27FC236}">
                <a16:creationId xmlns:a16="http://schemas.microsoft.com/office/drawing/2014/main" id="{09A0E6A8-5394-9DFD-48F9-E09CF43EDD0E}"/>
              </a:ext>
            </a:extLst>
          </p:cNvPr>
          <p:cNvSpPr txBox="1"/>
          <p:nvPr/>
        </p:nvSpPr>
        <p:spPr>
          <a:xfrm>
            <a:off x="1262194" y="6409628"/>
            <a:ext cx="1149253" cy="1785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810" spc="0" baseline="0">
                <a:ln/>
                <a:solidFill>
                  <a:srgbClr val="475569"/>
                </a:solidFill>
                <a:latin typeface="Arial"/>
                <a:cs typeface="Arial"/>
                <a:sym typeface="Arial"/>
                <a:rtl val="0"/>
              </a:rPr>
              <a:t>(probability over operations)</a:t>
            </a:r>
          </a:p>
        </p:txBody>
      </p:sp>
      <p:sp>
        <p:nvSpPr>
          <p:cNvPr id="257" name="Rectangle: Rounded Corners 256">
            <a:extLst>
              <a:ext uri="{FF2B5EF4-FFF2-40B4-BE49-F238E27FC236}">
                <a16:creationId xmlns:a16="http://schemas.microsoft.com/office/drawing/2014/main" id="{3BEE4598-B07E-D15E-A2E9-01CAD863B5C6}"/>
              </a:ext>
            </a:extLst>
          </p:cNvPr>
          <p:cNvSpPr/>
          <p:nvPr/>
        </p:nvSpPr>
        <p:spPr>
          <a:xfrm>
            <a:off x="3352799" y="5955631"/>
            <a:ext cx="2598821" cy="671362"/>
          </a:xfrm>
          <a:prstGeom prst="roundRect">
            <a:avLst>
              <a:gd name="adj" fmla="val 8602"/>
            </a:avLst>
          </a:prstGeom>
          <a:solidFill>
            <a:srgbClr val="FEF2F2"/>
          </a:solidFill>
          <a:ln w="12266" cap="flat">
            <a:solidFill>
              <a:srgbClr val="DC2626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58" name="TextBox 257">
            <a:extLst>
              <a:ext uri="{FF2B5EF4-FFF2-40B4-BE49-F238E27FC236}">
                <a16:creationId xmlns:a16="http://schemas.microsoft.com/office/drawing/2014/main" id="{938F76D4-D88E-FD42-6A28-2800F9901CA3}"/>
              </a:ext>
            </a:extLst>
          </p:cNvPr>
          <p:cNvSpPr txBox="1"/>
          <p:nvPr/>
        </p:nvSpPr>
        <p:spPr>
          <a:xfrm>
            <a:off x="4104933" y="6036355"/>
            <a:ext cx="1094554" cy="2204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200" b="1" spc="0" baseline="0">
                <a:ln/>
                <a:solidFill>
                  <a:srgbClr val="DC2626"/>
                </a:solidFill>
                <a:latin typeface="Arial"/>
                <a:cs typeface="Arial"/>
                <a:sym typeface="Arial"/>
                <a:rtl val="0"/>
              </a:rPr>
              <a:t>2. Feasible Mask</a:t>
            </a:r>
          </a:p>
        </p:txBody>
      </p:sp>
      <p:sp>
        <p:nvSpPr>
          <p:cNvPr id="259" name="TextBox 258">
            <a:extLst>
              <a:ext uri="{FF2B5EF4-FFF2-40B4-BE49-F238E27FC236}">
                <a16:creationId xmlns:a16="http://schemas.microsoft.com/office/drawing/2014/main" id="{E1D754E4-72DC-41B0-6262-A0F6527EC89C}"/>
              </a:ext>
            </a:extLst>
          </p:cNvPr>
          <p:cNvSpPr txBox="1"/>
          <p:nvPr/>
        </p:nvSpPr>
        <p:spPr>
          <a:xfrm>
            <a:off x="4029188" y="6247574"/>
            <a:ext cx="1246044" cy="1914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930" spc="0" baseline="0">
                <a:ln/>
                <a:solidFill>
                  <a:srgbClr val="0F172A"/>
                </a:solidFill>
                <a:latin typeface="Arial"/>
                <a:cs typeface="Arial"/>
                <a:sym typeface="Arial"/>
                <a:rtl val="0"/>
              </a:rPr>
              <a:t>enforce valid JSSP actions</a:t>
            </a:r>
          </a:p>
        </p:txBody>
      </p:sp>
      <p:sp>
        <p:nvSpPr>
          <p:cNvPr id="260" name="TextBox 259">
            <a:extLst>
              <a:ext uri="{FF2B5EF4-FFF2-40B4-BE49-F238E27FC236}">
                <a16:creationId xmlns:a16="http://schemas.microsoft.com/office/drawing/2014/main" id="{E25C9360-9E53-EB35-0BC5-54CC4319D260}"/>
              </a:ext>
            </a:extLst>
          </p:cNvPr>
          <p:cNvSpPr txBox="1"/>
          <p:nvPr/>
        </p:nvSpPr>
        <p:spPr>
          <a:xfrm>
            <a:off x="4084150" y="6409628"/>
            <a:ext cx="1136119" cy="1785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810" spc="0" baseline="0">
                <a:ln/>
                <a:solidFill>
                  <a:srgbClr val="475569"/>
                </a:solidFill>
                <a:latin typeface="Arial"/>
                <a:cs typeface="Arial"/>
                <a:sym typeface="Arial"/>
                <a:rtl val="0"/>
              </a:rPr>
              <a:t>(hard mask before softmax)</a:t>
            </a:r>
          </a:p>
        </p:txBody>
      </p:sp>
      <p:sp>
        <p:nvSpPr>
          <p:cNvPr id="261" name="Rectangle: Rounded Corners 260">
            <a:extLst>
              <a:ext uri="{FF2B5EF4-FFF2-40B4-BE49-F238E27FC236}">
                <a16:creationId xmlns:a16="http://schemas.microsoft.com/office/drawing/2014/main" id="{6CDF9544-47FC-9206-AAC9-079574496DBD}"/>
              </a:ext>
            </a:extLst>
          </p:cNvPr>
          <p:cNvSpPr/>
          <p:nvPr/>
        </p:nvSpPr>
        <p:spPr>
          <a:xfrm>
            <a:off x="6168189" y="5955631"/>
            <a:ext cx="2598821" cy="671362"/>
          </a:xfrm>
          <a:prstGeom prst="roundRect">
            <a:avLst>
              <a:gd name="adj" fmla="val 8602"/>
            </a:avLst>
          </a:prstGeom>
          <a:solidFill>
            <a:srgbClr val="FFF7ED"/>
          </a:solidFill>
          <a:ln w="12266" cap="flat">
            <a:solidFill>
              <a:srgbClr val="D97706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62" name="TextBox 261">
            <a:extLst>
              <a:ext uri="{FF2B5EF4-FFF2-40B4-BE49-F238E27FC236}">
                <a16:creationId xmlns:a16="http://schemas.microsoft.com/office/drawing/2014/main" id="{C6BFF06E-9836-13CC-6B21-B2926FFE5D71}"/>
              </a:ext>
            </a:extLst>
          </p:cNvPr>
          <p:cNvSpPr txBox="1"/>
          <p:nvPr/>
        </p:nvSpPr>
        <p:spPr>
          <a:xfrm>
            <a:off x="6711847" y="6036355"/>
            <a:ext cx="1511504" cy="2204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200" b="1" spc="0" baseline="0">
                <a:ln/>
                <a:solidFill>
                  <a:srgbClr val="D97706"/>
                </a:solidFill>
                <a:latin typeface="Arial"/>
                <a:cs typeface="Arial"/>
                <a:sym typeface="Arial"/>
                <a:rtl val="0"/>
              </a:rPr>
              <a:t>3. Environment Decoder</a:t>
            </a:r>
          </a:p>
        </p:txBody>
      </p:sp>
      <p:sp>
        <p:nvSpPr>
          <p:cNvPr id="263" name="TextBox 262">
            <a:extLst>
              <a:ext uri="{FF2B5EF4-FFF2-40B4-BE49-F238E27FC236}">
                <a16:creationId xmlns:a16="http://schemas.microsoft.com/office/drawing/2014/main" id="{BEED5DD5-1027-9C2C-6612-71BCACE754EA}"/>
              </a:ext>
            </a:extLst>
          </p:cNvPr>
          <p:cNvSpPr txBox="1"/>
          <p:nvPr/>
        </p:nvSpPr>
        <p:spPr>
          <a:xfrm>
            <a:off x="6724444" y="6247574"/>
            <a:ext cx="1486310" cy="1914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930" spc="0" baseline="0">
                <a:ln/>
                <a:solidFill>
                  <a:srgbClr val="0F172A"/>
                </a:solidFill>
                <a:latin typeface="Arial"/>
                <a:cs typeface="Arial"/>
                <a:sym typeface="Arial"/>
                <a:rtl val="0"/>
              </a:rPr>
              <a:t>compute exact start / finish times</a:t>
            </a:r>
          </a:p>
        </p:txBody>
      </p:sp>
      <p:sp>
        <p:nvSpPr>
          <p:cNvPr id="264" name="TextBox 263">
            <a:extLst>
              <a:ext uri="{FF2B5EF4-FFF2-40B4-BE49-F238E27FC236}">
                <a16:creationId xmlns:a16="http://schemas.microsoft.com/office/drawing/2014/main" id="{6D853440-69F6-0C41-3045-3D0992C143BC}"/>
              </a:ext>
            </a:extLst>
          </p:cNvPr>
          <p:cNvSpPr txBox="1"/>
          <p:nvPr/>
        </p:nvSpPr>
        <p:spPr>
          <a:xfrm>
            <a:off x="6796183" y="6409628"/>
            <a:ext cx="1342832" cy="1785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810" spc="0" baseline="0">
                <a:ln/>
                <a:solidFill>
                  <a:srgbClr val="475569"/>
                </a:solidFill>
                <a:latin typeface="Arial"/>
                <a:cs typeface="Arial"/>
                <a:sym typeface="Arial"/>
                <a:rtl val="0"/>
              </a:rPr>
              <a:t>(simulation-based JSSP decoder)</a:t>
            </a:r>
          </a:p>
        </p:txBody>
      </p:sp>
      <p:sp>
        <p:nvSpPr>
          <p:cNvPr id="265" name="Rectangle: Rounded Corners 264">
            <a:extLst>
              <a:ext uri="{FF2B5EF4-FFF2-40B4-BE49-F238E27FC236}">
                <a16:creationId xmlns:a16="http://schemas.microsoft.com/office/drawing/2014/main" id="{4DFB5DE1-3445-CB3E-D608-5D2FB6D9E324}"/>
              </a:ext>
            </a:extLst>
          </p:cNvPr>
          <p:cNvSpPr/>
          <p:nvPr/>
        </p:nvSpPr>
        <p:spPr>
          <a:xfrm>
            <a:off x="8983579" y="5955631"/>
            <a:ext cx="2598821" cy="671362"/>
          </a:xfrm>
          <a:prstGeom prst="roundRect">
            <a:avLst>
              <a:gd name="adj" fmla="val 8602"/>
            </a:avLst>
          </a:prstGeom>
          <a:solidFill>
            <a:srgbClr val="F0FDF4"/>
          </a:solidFill>
          <a:ln w="12266" cap="flat">
            <a:solidFill>
              <a:srgbClr val="3F7D4A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66" name="TextBox 265">
            <a:extLst>
              <a:ext uri="{FF2B5EF4-FFF2-40B4-BE49-F238E27FC236}">
                <a16:creationId xmlns:a16="http://schemas.microsoft.com/office/drawing/2014/main" id="{20F31AB5-E263-7924-B9C3-DEA4373159AA}"/>
              </a:ext>
            </a:extLst>
          </p:cNvPr>
          <p:cNvSpPr txBox="1"/>
          <p:nvPr/>
        </p:nvSpPr>
        <p:spPr>
          <a:xfrm>
            <a:off x="9572214" y="6036355"/>
            <a:ext cx="1421549" cy="2204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200" b="1" spc="0" baseline="0">
                <a:ln/>
                <a:solidFill>
                  <a:srgbClr val="3F7D4A"/>
                </a:solidFill>
                <a:latin typeface="Arial"/>
                <a:cs typeface="Arial"/>
                <a:sym typeface="Arial"/>
                <a:rtl val="0"/>
              </a:rPr>
              <a:t>4. Low-level Controller</a:t>
            </a:r>
          </a:p>
        </p:txBody>
      </p:sp>
      <p:sp>
        <p:nvSpPr>
          <p:cNvPr id="267" name="TextBox 266">
            <a:extLst>
              <a:ext uri="{FF2B5EF4-FFF2-40B4-BE49-F238E27FC236}">
                <a16:creationId xmlns:a16="http://schemas.microsoft.com/office/drawing/2014/main" id="{72DD01EF-60D0-2137-0CB6-F5A2C9AAC574}"/>
              </a:ext>
            </a:extLst>
          </p:cNvPr>
          <p:cNvSpPr txBox="1"/>
          <p:nvPr/>
        </p:nvSpPr>
        <p:spPr>
          <a:xfrm>
            <a:off x="9656579" y="6247574"/>
            <a:ext cx="1252819" cy="1914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930" spc="0" baseline="0">
                <a:ln/>
                <a:solidFill>
                  <a:srgbClr val="0F172A"/>
                </a:solidFill>
                <a:latin typeface="Arial"/>
                <a:cs typeface="Arial"/>
                <a:sym typeface="Arial"/>
                <a:rtl val="0"/>
              </a:rPr>
              <a:t>track the planned schedule</a:t>
            </a:r>
          </a:p>
        </p:txBody>
      </p:sp>
      <p:sp>
        <p:nvSpPr>
          <p:cNvPr id="268" name="TextBox 267">
            <a:extLst>
              <a:ext uri="{FF2B5EF4-FFF2-40B4-BE49-F238E27FC236}">
                <a16:creationId xmlns:a16="http://schemas.microsoft.com/office/drawing/2014/main" id="{F4C64757-F099-7814-3899-DE8D74C92469}"/>
              </a:ext>
            </a:extLst>
          </p:cNvPr>
          <p:cNvSpPr txBox="1"/>
          <p:nvPr/>
        </p:nvSpPr>
        <p:spPr>
          <a:xfrm>
            <a:off x="9706211" y="6409628"/>
            <a:ext cx="1153555" cy="1785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810" spc="0" baseline="0">
                <a:ln/>
                <a:solidFill>
                  <a:srgbClr val="475569"/>
                </a:solidFill>
                <a:latin typeface="Arial"/>
                <a:cs typeface="Arial"/>
                <a:sym typeface="Arial"/>
                <a:rtl val="0"/>
              </a:rPr>
              <a:t>(execute and track vehicles)</a:t>
            </a:r>
          </a:p>
        </p:txBody>
      </p:sp>
      <p:sp>
        <p:nvSpPr>
          <p:cNvPr id="269" name="Freeform: Shape 268">
            <a:extLst>
              <a:ext uri="{FF2B5EF4-FFF2-40B4-BE49-F238E27FC236}">
                <a16:creationId xmlns:a16="http://schemas.microsoft.com/office/drawing/2014/main" id="{F05F4934-7C3C-19AE-8B5D-1780DD4C4E43}"/>
              </a:ext>
            </a:extLst>
          </p:cNvPr>
          <p:cNvSpPr/>
          <p:nvPr/>
        </p:nvSpPr>
        <p:spPr>
          <a:xfrm>
            <a:off x="3172326" y="6291312"/>
            <a:ext cx="122722" cy="7218"/>
          </a:xfrm>
          <a:custGeom>
            <a:avLst/>
            <a:gdLst>
              <a:gd name="csX0" fmla="*/ 0 w 122722"/>
              <a:gd name="csY0" fmla="*/ 0 h 7218"/>
              <a:gd name="csX1" fmla="*/ 122722 w 122722"/>
              <a:gd name="csY1" fmla="*/ 0 h 7218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22722" h="7218">
                <a:moveTo>
                  <a:pt x="0" y="0"/>
                </a:moveTo>
                <a:lnTo>
                  <a:pt x="122722" y="0"/>
                </a:lnTo>
              </a:path>
            </a:pathLst>
          </a:custGeom>
          <a:ln w="17316" cap="flat">
            <a:solidFill>
              <a:srgbClr val="475569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70" name="Freeform: Shape 269">
            <a:extLst>
              <a:ext uri="{FF2B5EF4-FFF2-40B4-BE49-F238E27FC236}">
                <a16:creationId xmlns:a16="http://schemas.microsoft.com/office/drawing/2014/main" id="{DA028CF2-B22C-E28C-A135-E29A80DFAF7E}"/>
              </a:ext>
            </a:extLst>
          </p:cNvPr>
          <p:cNvSpPr/>
          <p:nvPr/>
        </p:nvSpPr>
        <p:spPr>
          <a:xfrm>
            <a:off x="5987715" y="6291312"/>
            <a:ext cx="122722" cy="7218"/>
          </a:xfrm>
          <a:custGeom>
            <a:avLst/>
            <a:gdLst>
              <a:gd name="csX0" fmla="*/ 0 w 122722"/>
              <a:gd name="csY0" fmla="*/ 0 h 7218"/>
              <a:gd name="csX1" fmla="*/ 122722 w 122722"/>
              <a:gd name="csY1" fmla="*/ 0 h 7218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22722" h="7218">
                <a:moveTo>
                  <a:pt x="0" y="0"/>
                </a:moveTo>
                <a:lnTo>
                  <a:pt x="122722" y="0"/>
                </a:lnTo>
              </a:path>
            </a:pathLst>
          </a:custGeom>
          <a:ln w="17316" cap="flat">
            <a:solidFill>
              <a:srgbClr val="475569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71" name="Freeform: Shape 270">
            <a:extLst>
              <a:ext uri="{FF2B5EF4-FFF2-40B4-BE49-F238E27FC236}">
                <a16:creationId xmlns:a16="http://schemas.microsoft.com/office/drawing/2014/main" id="{6221980D-F839-1CE0-9892-1FE05861D4AB}"/>
              </a:ext>
            </a:extLst>
          </p:cNvPr>
          <p:cNvSpPr/>
          <p:nvPr/>
        </p:nvSpPr>
        <p:spPr>
          <a:xfrm>
            <a:off x="8803105" y="6291312"/>
            <a:ext cx="122722" cy="7218"/>
          </a:xfrm>
          <a:custGeom>
            <a:avLst/>
            <a:gdLst>
              <a:gd name="csX0" fmla="*/ 0 w 122722"/>
              <a:gd name="csY0" fmla="*/ 0 h 7218"/>
              <a:gd name="csX1" fmla="*/ 122722 w 122722"/>
              <a:gd name="csY1" fmla="*/ 0 h 7218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22722" h="7218">
                <a:moveTo>
                  <a:pt x="0" y="0"/>
                </a:moveTo>
                <a:lnTo>
                  <a:pt x="122722" y="0"/>
                </a:lnTo>
              </a:path>
            </a:pathLst>
          </a:custGeom>
          <a:ln w="17316" cap="flat">
            <a:solidFill>
              <a:srgbClr val="475569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72" name="TextBox 271">
            <a:extLst>
              <a:ext uri="{FF2B5EF4-FFF2-40B4-BE49-F238E27FC236}">
                <a16:creationId xmlns:a16="http://schemas.microsoft.com/office/drawing/2014/main" id="{3346086C-EFAE-F011-86CA-AF7B92FF6DF5}"/>
              </a:ext>
            </a:extLst>
          </p:cNvPr>
          <p:cNvSpPr txBox="1"/>
          <p:nvPr/>
        </p:nvSpPr>
        <p:spPr>
          <a:xfrm>
            <a:off x="3584859" y="6664936"/>
            <a:ext cx="5022280" cy="1841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863" b="1" spc="0" baseline="0">
                <a:ln/>
                <a:solidFill>
                  <a:srgbClr val="475569"/>
                </a:solidFill>
                <a:latin typeface="Arial"/>
                <a:cs typeface="Arial"/>
                <a:sym typeface="Arial"/>
                <a:rtl val="0"/>
              </a:rPr>
              <a:t>The neural policy selects the next operation; exact crossing times are computed downstream by the environment decoder.</a:t>
            </a:r>
          </a:p>
        </p:txBody>
      </p:sp>
    </p:spTree>
    <p:extLst>
      <p:ext uri="{BB962C8B-B14F-4D97-AF65-F5344CB8AC3E}">
        <p14:creationId xmlns:p14="http://schemas.microsoft.com/office/powerpoint/2010/main" val="20724099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848</Words>
  <Application>Microsoft Office PowerPoint</Application>
  <PresentationFormat>Widescreen</PresentationFormat>
  <Paragraphs>150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Cambria Math</vt:lpstr>
      <vt:lpstr>Consolas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Travid Pei</dc:creator>
  <cp:lastModifiedBy>Travid Pei</cp:lastModifiedBy>
  <cp:revision>2</cp:revision>
  <dcterms:created xsi:type="dcterms:W3CDTF">2026-07-10T09:10:01Z</dcterms:created>
  <dcterms:modified xsi:type="dcterms:W3CDTF">2026-07-10T09:13:02Z</dcterms:modified>
</cp:coreProperties>
</file>